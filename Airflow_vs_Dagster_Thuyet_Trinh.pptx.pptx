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rial Bold" charset="1" panose="020B0704020202020204"/>
      <p:regular r:id="rId17"/>
    </p:embeddedFont>
    <p:embeddedFont>
      <p:font typeface="Calibri (MS) Bold" charset="1" panose="020F0702030404030204"/>
      <p:regular r:id="rId18"/>
    </p:embeddedFont>
    <p:embeddedFont>
      <p:font typeface="Calibri (MS)" charset="1" panose="020F0502020204030204"/>
      <p:regular r:id="rId19"/>
    </p:embeddedFont>
    <p:embeddedFont>
      <p:font typeface="Arial" charset="1" panose="020B0604020202020204"/>
      <p:regular r:id="rId21"/>
    </p:embeddedFont>
    <p:embeddedFont>
      <p:font typeface="Noto Sans Bold" charset="1" panose="020B0802040504020204"/>
      <p:regular r:id="rId22"/>
    </p:embeddedFont>
    <p:embeddedFont>
      <p:font typeface="Noto Sans" charset="1" panose="020B0502040504020204"/>
      <p:regular r:id="rId23"/>
    </p:embeddedFont>
    <p:embeddedFont>
      <p:font typeface="Consolas" charset="1" panose="020B06090202040302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4" Type="http://schemas.openxmlformats.org/officeDocument/2006/relationships/theme" Target="theme/theme2.xml"/><Relationship Id="rId15" Type="http://schemas.openxmlformats.org/officeDocument/2006/relationships/notesSlide" Target="notesSlides/notesSlide1.xml"/><Relationship Id="rId16" Type="http://schemas.openxmlformats.org/officeDocument/2006/relationships/notesSlide" Target="notesSlides/notesSlide2.xml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notesSlide" Target="notesSlides/notesSlide3.xml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font" Target="fonts/font23.fntdata"/><Relationship Id="rId24" Type="http://schemas.openxmlformats.org/officeDocument/2006/relationships/notesSlide" Target="notesSlides/notesSlide4.xml"/><Relationship Id="rId25" Type="http://schemas.openxmlformats.org/officeDocument/2006/relationships/notesSlide" Target="notesSlides/notesSlide5.xml"/><Relationship Id="rId26" Type="http://schemas.openxmlformats.org/officeDocument/2006/relationships/notesSlide" Target="notesSlides/notesSlide6.xml"/><Relationship Id="rId27" Type="http://schemas.openxmlformats.org/officeDocument/2006/relationships/notesSlide" Target="notesSlides/notesSlide7.xml"/><Relationship Id="rId28" Type="http://schemas.openxmlformats.org/officeDocument/2006/relationships/font" Target="fonts/font28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Slide bìa: Giới thiệu chuyên đề so sánh Airflow vs Dagster trên bài toán bóc tách PDF thực chiến. Giải thích lý do chọn chủ đề và mục tiêu chuyển dịch On-Premise.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 Note: Nêu rõ bối cảnh các dự án trước đây dùng AWS Step Functions. Đặt câu hỏi chiến lược: Khi khách hàng yêu cầu On-Premise để bảo mật dữ liệu và tiết kiệm chi phí lâu dài, ta sẽ chọn công cụ nào?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 Note: Giới thiệu bài toán nghiệp vụ bóc tách 4 trang hóa đơn và luồng kiểm toán tài chính. Chỉ rõ sơ đồ dòng chảy từ tiếp nhận đến duyệt hoặc dừng khẩn cấp.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 Note: Phân tích sự khác biệt sâu sắc giữa 2 sơ đồ: Airflow quản lý chuỗi task hình chữ nhật và phải tự viết 2 lần @task.branch + TriggerRule khi gom nhánh; Dagster quản lý chuỗi tài sản dữ liệu sống đi kèm các chiếc khiên kiểm định Asset Checks độc lập, tự động ngắt cầu dao (blocking=True) bảo vệ sổ cái ERP.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 Note: Mổ xẻ 6 bước thực thi trong 1 task Airflow và 4 điểm nghẽn: CPU parsing loop, database lock do state machine, xcom phình to DB và UI bị mù dữ liệu.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 Note: Giới thiệu 4 ưu điểm vượt trội trong kiến trúc Dagster: gRPC code server cách ly mã nguồn, ephemeral worker tự dọn dẹp, I/O manager tách biệt storage và Asset Checks bảo vệ dữ liệu.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Speaker Note: Slide 7 giữ nguyên bố cục 3 khối gốc: (1) Kiến trúc hạ tầng on-premise (Airflow 6 thành phần vs Dagster K8s/MinIO); (2) Kiểm thử CI/CD (Airflow chậm 3-5 phút vs Dagster in-memory 0.12s); (3) Định vị chiến lược khi nào chọn Airflow vs Dagster.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961" cy="13715949"/>
            </a:xfrm>
            <a:custGeom>
              <a:avLst/>
              <a:gdLst/>
              <a:ahLst/>
              <a:cxnLst/>
              <a:rect r="r" b="b" t="t" l="l"/>
              <a:pathLst>
                <a:path h="13715949" w="24383961">
                  <a:moveTo>
                    <a:pt x="0" y="0"/>
                  </a:moveTo>
                  <a:lnTo>
                    <a:pt x="24383961" y="0"/>
                  </a:lnTo>
                  <a:lnTo>
                    <a:pt x="24383961" y="13715949"/>
                  </a:lnTo>
                  <a:lnTo>
                    <a:pt x="0" y="13715949"/>
                  </a:lnTo>
                  <a:close/>
                </a:path>
              </a:pathLst>
            </a:custGeom>
            <a:blipFill>
              <a:blip r:embed="rId3"/>
              <a:stretch>
                <a:fillRect l="0" t="-9259" r="0" b="-9259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961" cy="13715949"/>
            </a:xfrm>
            <a:custGeom>
              <a:avLst/>
              <a:gdLst/>
              <a:ahLst/>
              <a:cxnLst/>
              <a:rect r="r" b="b" t="t" l="l"/>
              <a:pathLst>
                <a:path h="13715949" w="24383961">
                  <a:moveTo>
                    <a:pt x="0" y="0"/>
                  </a:moveTo>
                  <a:lnTo>
                    <a:pt x="24383961" y="0"/>
                  </a:lnTo>
                  <a:lnTo>
                    <a:pt x="24383961" y="13715949"/>
                  </a:lnTo>
                  <a:lnTo>
                    <a:pt x="0" y="13715949"/>
                  </a:lnTo>
                  <a:close/>
                </a:path>
              </a:pathLst>
            </a:custGeom>
            <a:solidFill>
              <a:srgbClr val="06142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88603" y="470906"/>
            <a:ext cx="3588010" cy="499500"/>
            <a:chOff x="0" y="0"/>
            <a:chExt cx="4784014" cy="66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83963" cy="665988"/>
            </a:xfrm>
            <a:custGeom>
              <a:avLst/>
              <a:gdLst/>
              <a:ahLst/>
              <a:cxnLst/>
              <a:rect r="r" b="b" t="t" l="l"/>
              <a:pathLst>
                <a:path h="665988" w="4783963">
                  <a:moveTo>
                    <a:pt x="0" y="110998"/>
                  </a:moveTo>
                  <a:cubicBezTo>
                    <a:pt x="0" y="49657"/>
                    <a:pt x="49657" y="0"/>
                    <a:pt x="110998" y="0"/>
                  </a:cubicBezTo>
                  <a:lnTo>
                    <a:pt x="4672965" y="0"/>
                  </a:lnTo>
                  <a:cubicBezTo>
                    <a:pt x="4734306" y="0"/>
                    <a:pt x="4783963" y="49657"/>
                    <a:pt x="4783963" y="110998"/>
                  </a:cubicBezTo>
                  <a:lnTo>
                    <a:pt x="4783963" y="554990"/>
                  </a:lnTo>
                  <a:cubicBezTo>
                    <a:pt x="4783963" y="616331"/>
                    <a:pt x="4734306" y="665988"/>
                    <a:pt x="4672965" y="665988"/>
                  </a:cubicBezTo>
                  <a:lnTo>
                    <a:pt x="110998" y="665988"/>
                  </a:lnTo>
                  <a:cubicBezTo>
                    <a:pt x="49657" y="665988"/>
                    <a:pt x="0" y="616331"/>
                    <a:pt x="0" y="554990"/>
                  </a:cubicBezTo>
                  <a:close/>
                </a:path>
              </a:pathLst>
            </a:custGeom>
            <a:solidFill>
              <a:srgbClr val="08263A"/>
            </a:solidFill>
            <a:ln w="19050" cap="sq">
              <a:solidFill>
                <a:srgbClr val="00D4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4784014" cy="685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1"/>
                </a:lnSpc>
              </a:pPr>
              <a:r>
                <a:rPr lang="en-US" sz="1426" b="true">
                  <a:solidFill>
                    <a:srgbClr val="00D4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AWS STEP FUNCTION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88603" y="1418602"/>
            <a:ext cx="8055397" cy="3724898"/>
            <a:chOff x="0" y="0"/>
            <a:chExt cx="17663043" cy="81675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662978" cy="8167526"/>
            </a:xfrm>
            <a:custGeom>
              <a:avLst/>
              <a:gdLst/>
              <a:ahLst/>
              <a:cxnLst/>
              <a:rect r="r" b="b" t="t" l="l"/>
              <a:pathLst>
                <a:path h="8167526" w="17662978">
                  <a:moveTo>
                    <a:pt x="0" y="1361235"/>
                  </a:moveTo>
                  <a:cubicBezTo>
                    <a:pt x="0" y="609498"/>
                    <a:pt x="1153938" y="0"/>
                    <a:pt x="2577173" y="0"/>
                  </a:cubicBezTo>
                  <a:lnTo>
                    <a:pt x="15085805" y="0"/>
                  </a:lnTo>
                  <a:cubicBezTo>
                    <a:pt x="16509259" y="0"/>
                    <a:pt x="17662978" y="609498"/>
                    <a:pt x="17662978" y="1361235"/>
                  </a:cubicBezTo>
                  <a:lnTo>
                    <a:pt x="17662978" y="6806292"/>
                  </a:lnTo>
                  <a:cubicBezTo>
                    <a:pt x="17662978" y="7558144"/>
                    <a:pt x="16509040" y="8167526"/>
                    <a:pt x="15085805" y="8167526"/>
                  </a:cubicBezTo>
                  <a:lnTo>
                    <a:pt x="2577173" y="8167526"/>
                  </a:lnTo>
                  <a:cubicBezTo>
                    <a:pt x="1153938" y="8167526"/>
                    <a:pt x="0" y="7558143"/>
                    <a:pt x="0" y="6806292"/>
                  </a:cubicBezTo>
                  <a:close/>
                </a:path>
              </a:pathLst>
            </a:custGeom>
            <a:solidFill>
              <a:srgbClr val="0B1B30"/>
            </a:solidFill>
            <a:ln w="19050" cap="sq">
              <a:solidFill>
                <a:srgbClr val="00D4F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7663043" cy="8224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LỢI THẾ (PROS)</a:t>
              </a:r>
            </a:p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• Hoàn toàn Serverless:</a:t>
              </a:r>
            </a:p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Không tốn công vận hành hạ tầng máy chủ hay cụm cluster.</a:t>
              </a:r>
            </a:p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• Auto-Scaling tự động:</a:t>
              </a:r>
            </a:p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Tự động scale theo tải khi có hàng nghìn request đổ về.</a:t>
              </a:r>
            </a:p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• Pay-as-you-go:</a:t>
              </a:r>
            </a:p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Chỉ trả phí dựa trên số lượng request và chuyển trạng thái thực tế.</a:t>
              </a:r>
            </a:p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• Tích hợp sâu hệ sinh thái AWS:</a:t>
              </a:r>
            </a:p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Kết nối trực tiếp Lambda, S3, DynamoDB, SQS mượt mà.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5439276"/>
            <a:ext cx="8115300" cy="4332586"/>
            <a:chOff x="0" y="0"/>
            <a:chExt cx="16869478" cy="90062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869417" cy="9006205"/>
            </a:xfrm>
            <a:custGeom>
              <a:avLst/>
              <a:gdLst/>
              <a:ahLst/>
              <a:cxnLst/>
              <a:rect r="r" b="b" t="t" l="l"/>
              <a:pathLst>
                <a:path h="9006205" w="16869417">
                  <a:moveTo>
                    <a:pt x="0" y="1501013"/>
                  </a:moveTo>
                  <a:cubicBezTo>
                    <a:pt x="0" y="672084"/>
                    <a:pt x="1102094" y="0"/>
                    <a:pt x="2461386" y="0"/>
                  </a:cubicBezTo>
                  <a:lnTo>
                    <a:pt x="14408031" y="0"/>
                  </a:lnTo>
                  <a:cubicBezTo>
                    <a:pt x="15767531" y="0"/>
                    <a:pt x="16869417" y="672084"/>
                    <a:pt x="16869417" y="1501013"/>
                  </a:cubicBezTo>
                  <a:lnTo>
                    <a:pt x="16869417" y="7505192"/>
                  </a:lnTo>
                  <a:cubicBezTo>
                    <a:pt x="16869417" y="8334249"/>
                    <a:pt x="15767323" y="9006205"/>
                    <a:pt x="14408031" y="9006205"/>
                  </a:cubicBezTo>
                  <a:lnTo>
                    <a:pt x="2461386" y="9006205"/>
                  </a:lnTo>
                  <a:cubicBezTo>
                    <a:pt x="1102094" y="9006205"/>
                    <a:pt x="0" y="8334248"/>
                    <a:pt x="0" y="7505192"/>
                  </a:cubicBezTo>
                  <a:close/>
                </a:path>
              </a:pathLst>
            </a:custGeom>
            <a:solidFill>
              <a:srgbClr val="0B1B30"/>
            </a:solidFill>
            <a:ln w="19050" cap="sq">
              <a:solidFill>
                <a:srgbClr val="1C8C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6869478" cy="9063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F43F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❌ HẠN CHẾ (CONS) &amp; RỦI RO</a:t>
              </a:r>
            </a:p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• Khó khăn khi Test &amp; Debug Local:</a:t>
              </a:r>
            </a:p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Mô phỏng Step Function ở local rất phức tạp, chu kỳ phản hồi phát triển chậm.</a:t>
              </a:r>
            </a:p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• Chi phí tăng vọt khi Scale tải lớn:</a:t>
              </a:r>
            </a:p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Chi phí state transition rất đắt đỏ khi xử lý hàng triệu hóa đơn/tháng.</a:t>
              </a:r>
            </a:p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• Rủi ro Vendor Lock-in:</a:t>
              </a:r>
            </a:p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Bị ràng buộc mã nguồn vào dịch vụ AWS, khó chuyển sang Cloud khác.</a:t>
              </a:r>
            </a:p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• Tuân thủ On-Premise &amp; Bảo mật:</a:t>
              </a:r>
            </a:p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Khách hàng tài chính/ngân hàng yêu cầu dữ liệu nhạy cảm phải xử lý nội bộ.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694014" y="1028700"/>
            <a:ext cx="5578748" cy="5964165"/>
            <a:chOff x="0" y="0"/>
            <a:chExt cx="7438331" cy="795221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438331" cy="7952219"/>
            </a:xfrm>
            <a:custGeom>
              <a:avLst/>
              <a:gdLst/>
              <a:ahLst/>
              <a:cxnLst/>
              <a:rect r="r" b="b" t="t" l="l"/>
              <a:pathLst>
                <a:path h="7952219" w="7438331">
                  <a:moveTo>
                    <a:pt x="0" y="0"/>
                  </a:moveTo>
                  <a:lnTo>
                    <a:pt x="7438331" y="0"/>
                  </a:lnTo>
                  <a:lnTo>
                    <a:pt x="7438331" y="7952219"/>
                  </a:lnTo>
                  <a:lnTo>
                    <a:pt x="0" y="79522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39" t="0" r="-1939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961" cy="13715949"/>
            </a:xfrm>
            <a:custGeom>
              <a:avLst/>
              <a:gdLst/>
              <a:ahLst/>
              <a:cxnLst/>
              <a:rect r="r" b="b" t="t" l="l"/>
              <a:pathLst>
                <a:path h="13715949" w="24383961">
                  <a:moveTo>
                    <a:pt x="0" y="0"/>
                  </a:moveTo>
                  <a:lnTo>
                    <a:pt x="24383961" y="0"/>
                  </a:lnTo>
                  <a:lnTo>
                    <a:pt x="24383961" y="13715949"/>
                  </a:lnTo>
                  <a:lnTo>
                    <a:pt x="0" y="13715949"/>
                  </a:lnTo>
                  <a:close/>
                </a:path>
              </a:pathLst>
            </a:custGeom>
            <a:solidFill>
              <a:srgbClr val="06142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45880" y="1235459"/>
            <a:ext cx="8773882" cy="8741480"/>
            <a:chOff x="0" y="0"/>
            <a:chExt cx="2310817" cy="230228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10817" cy="2302283"/>
            </a:xfrm>
            <a:custGeom>
              <a:avLst/>
              <a:gdLst/>
              <a:ahLst/>
              <a:cxnLst/>
              <a:rect r="r" b="b" t="t" l="l"/>
              <a:pathLst>
                <a:path h="2302283" w="2310817">
                  <a:moveTo>
                    <a:pt x="45002" y="0"/>
                  </a:moveTo>
                  <a:lnTo>
                    <a:pt x="2265815" y="0"/>
                  </a:lnTo>
                  <a:cubicBezTo>
                    <a:pt x="2290669" y="0"/>
                    <a:pt x="2310817" y="20148"/>
                    <a:pt x="2310817" y="45002"/>
                  </a:cubicBezTo>
                  <a:lnTo>
                    <a:pt x="2310817" y="2257281"/>
                  </a:lnTo>
                  <a:cubicBezTo>
                    <a:pt x="2310817" y="2269216"/>
                    <a:pt x="2306076" y="2280663"/>
                    <a:pt x="2297636" y="2289102"/>
                  </a:cubicBezTo>
                  <a:cubicBezTo>
                    <a:pt x="2289197" y="2297542"/>
                    <a:pt x="2277750" y="2302283"/>
                    <a:pt x="2265815" y="2302283"/>
                  </a:cubicBezTo>
                  <a:lnTo>
                    <a:pt x="45002" y="2302283"/>
                  </a:lnTo>
                  <a:cubicBezTo>
                    <a:pt x="33066" y="2302283"/>
                    <a:pt x="21620" y="2297542"/>
                    <a:pt x="13181" y="2289102"/>
                  </a:cubicBezTo>
                  <a:cubicBezTo>
                    <a:pt x="4741" y="2280663"/>
                    <a:pt x="0" y="2269216"/>
                    <a:pt x="0" y="2257281"/>
                  </a:cubicBezTo>
                  <a:lnTo>
                    <a:pt x="0" y="45002"/>
                  </a:lnTo>
                  <a:cubicBezTo>
                    <a:pt x="0" y="33066"/>
                    <a:pt x="4741" y="21620"/>
                    <a:pt x="13181" y="13181"/>
                  </a:cubicBezTo>
                  <a:cubicBezTo>
                    <a:pt x="21620" y="4741"/>
                    <a:pt x="33066" y="0"/>
                    <a:pt x="45002" y="0"/>
                  </a:cubicBezTo>
                  <a:close/>
                </a:path>
              </a:pathLst>
            </a:custGeom>
            <a:solidFill>
              <a:srgbClr val="041A1D"/>
            </a:solidFill>
            <a:ln w="19050" cap="rnd">
              <a:solidFill>
                <a:srgbClr val="00E599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10817" cy="2340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1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24907" y="369989"/>
            <a:ext cx="3588010" cy="499500"/>
            <a:chOff x="0" y="0"/>
            <a:chExt cx="4784014" cy="66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783963" cy="665988"/>
            </a:xfrm>
            <a:custGeom>
              <a:avLst/>
              <a:gdLst/>
              <a:ahLst/>
              <a:cxnLst/>
              <a:rect r="r" b="b" t="t" l="l"/>
              <a:pathLst>
                <a:path h="665988" w="4783963">
                  <a:moveTo>
                    <a:pt x="0" y="110998"/>
                  </a:moveTo>
                  <a:cubicBezTo>
                    <a:pt x="0" y="49657"/>
                    <a:pt x="49657" y="0"/>
                    <a:pt x="110998" y="0"/>
                  </a:cubicBezTo>
                  <a:lnTo>
                    <a:pt x="4672965" y="0"/>
                  </a:lnTo>
                  <a:cubicBezTo>
                    <a:pt x="4734306" y="0"/>
                    <a:pt x="4783963" y="49657"/>
                    <a:pt x="4783963" y="110998"/>
                  </a:cubicBezTo>
                  <a:lnTo>
                    <a:pt x="4783963" y="554990"/>
                  </a:lnTo>
                  <a:cubicBezTo>
                    <a:pt x="4783963" y="616331"/>
                    <a:pt x="4734306" y="665988"/>
                    <a:pt x="4672965" y="665988"/>
                  </a:cubicBezTo>
                  <a:lnTo>
                    <a:pt x="110998" y="665988"/>
                  </a:lnTo>
                  <a:cubicBezTo>
                    <a:pt x="49657" y="665988"/>
                    <a:pt x="0" y="616331"/>
                    <a:pt x="0" y="554990"/>
                  </a:cubicBezTo>
                  <a:close/>
                </a:path>
              </a:pathLst>
            </a:custGeom>
            <a:solidFill>
              <a:srgbClr val="08263A"/>
            </a:solidFill>
            <a:ln w="19065" cap="sq">
              <a:solidFill>
                <a:srgbClr val="00D4F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4784014" cy="685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1"/>
                </a:lnSpc>
              </a:pPr>
              <a:r>
                <a:rPr lang="en-US" sz="1426" b="true">
                  <a:solidFill>
                    <a:srgbClr val="00D4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BÀI TOÁN NGHIỆP VỤ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660311" y="2913756"/>
            <a:ext cx="5276402" cy="595589"/>
            <a:chOff x="0" y="0"/>
            <a:chExt cx="7035203" cy="79411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35165" cy="794131"/>
            </a:xfrm>
            <a:custGeom>
              <a:avLst/>
              <a:gdLst/>
              <a:ahLst/>
              <a:cxnLst/>
              <a:rect r="r" b="b" t="t" l="l"/>
              <a:pathLst>
                <a:path h="794131" w="7035165">
                  <a:moveTo>
                    <a:pt x="0" y="132334"/>
                  </a:moveTo>
                  <a:cubicBezTo>
                    <a:pt x="0" y="59309"/>
                    <a:pt x="59309" y="0"/>
                    <a:pt x="132334" y="0"/>
                  </a:cubicBezTo>
                  <a:lnTo>
                    <a:pt x="6902831" y="0"/>
                  </a:lnTo>
                  <a:cubicBezTo>
                    <a:pt x="6975983" y="0"/>
                    <a:pt x="7035165" y="59309"/>
                    <a:pt x="7035165" y="132334"/>
                  </a:cubicBezTo>
                  <a:lnTo>
                    <a:pt x="7035165" y="661797"/>
                  </a:lnTo>
                  <a:cubicBezTo>
                    <a:pt x="7035165" y="734949"/>
                    <a:pt x="6975856" y="794131"/>
                    <a:pt x="6902831" y="794131"/>
                  </a:cubicBezTo>
                  <a:lnTo>
                    <a:pt x="132334" y="794131"/>
                  </a:lnTo>
                  <a:cubicBezTo>
                    <a:pt x="59309" y="794131"/>
                    <a:pt x="0" y="734822"/>
                    <a:pt x="0" y="661797"/>
                  </a:cubicBezTo>
                  <a:close/>
                </a:path>
              </a:pathLst>
            </a:custGeom>
            <a:solidFill>
              <a:srgbClr val="F1F5F9"/>
            </a:solidFill>
            <a:ln w="19065" cap="sq">
              <a:solidFill>
                <a:srgbClr val="94A3B8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7035203" cy="822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📄 Input PDF (4 Pages)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660311" y="3867093"/>
            <a:ext cx="5276402" cy="595589"/>
            <a:chOff x="0" y="0"/>
            <a:chExt cx="7035203" cy="79411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35165" cy="794131"/>
            </a:xfrm>
            <a:custGeom>
              <a:avLst/>
              <a:gdLst/>
              <a:ahLst/>
              <a:cxnLst/>
              <a:rect r="r" b="b" t="t" l="l"/>
              <a:pathLst>
                <a:path h="794131" w="7035165">
                  <a:moveTo>
                    <a:pt x="0" y="132334"/>
                  </a:moveTo>
                  <a:cubicBezTo>
                    <a:pt x="0" y="59309"/>
                    <a:pt x="59309" y="0"/>
                    <a:pt x="132334" y="0"/>
                  </a:cubicBezTo>
                  <a:lnTo>
                    <a:pt x="6902831" y="0"/>
                  </a:lnTo>
                  <a:cubicBezTo>
                    <a:pt x="6975983" y="0"/>
                    <a:pt x="7035165" y="59309"/>
                    <a:pt x="7035165" y="132334"/>
                  </a:cubicBezTo>
                  <a:lnTo>
                    <a:pt x="7035165" y="661797"/>
                  </a:lnTo>
                  <a:cubicBezTo>
                    <a:pt x="7035165" y="734949"/>
                    <a:pt x="6975856" y="794131"/>
                    <a:pt x="6902831" y="794131"/>
                  </a:cubicBezTo>
                  <a:lnTo>
                    <a:pt x="132334" y="794131"/>
                  </a:lnTo>
                  <a:cubicBezTo>
                    <a:pt x="59309" y="794131"/>
                    <a:pt x="0" y="734822"/>
                    <a:pt x="0" y="661797"/>
                  </a:cubicBezTo>
                  <a:close/>
                </a:path>
              </a:pathLst>
            </a:custGeom>
            <a:solidFill>
              <a:srgbClr val="F1F5F9"/>
            </a:solidFill>
            <a:ln w="19065" cap="sq">
              <a:solidFill>
                <a:srgbClr val="94A3B8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7035203" cy="822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✂️ Split Pages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218997" y="4819231"/>
            <a:ext cx="1968256" cy="1323108"/>
            <a:chOff x="0" y="0"/>
            <a:chExt cx="2624341" cy="17641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624328" cy="1764030"/>
            </a:xfrm>
            <a:custGeom>
              <a:avLst/>
              <a:gdLst/>
              <a:ahLst/>
              <a:cxnLst/>
              <a:rect r="r" b="b" t="t" l="l"/>
              <a:pathLst>
                <a:path h="1764030" w="2624328">
                  <a:moveTo>
                    <a:pt x="0" y="294005"/>
                  </a:moveTo>
                  <a:cubicBezTo>
                    <a:pt x="0" y="131699"/>
                    <a:pt x="131699" y="0"/>
                    <a:pt x="294005" y="0"/>
                  </a:cubicBezTo>
                  <a:lnTo>
                    <a:pt x="2330323" y="0"/>
                  </a:lnTo>
                  <a:cubicBezTo>
                    <a:pt x="2492756" y="0"/>
                    <a:pt x="2624328" y="131699"/>
                    <a:pt x="2624328" y="294005"/>
                  </a:cubicBezTo>
                  <a:lnTo>
                    <a:pt x="2624328" y="1470025"/>
                  </a:lnTo>
                  <a:cubicBezTo>
                    <a:pt x="2624328" y="1632458"/>
                    <a:pt x="2492629" y="1764030"/>
                    <a:pt x="2330323" y="1764030"/>
                  </a:cubicBezTo>
                  <a:lnTo>
                    <a:pt x="294005" y="1764030"/>
                  </a:lnTo>
                  <a:cubicBezTo>
                    <a:pt x="131699" y="1764157"/>
                    <a:pt x="0" y="1632458"/>
                    <a:pt x="0" y="1470152"/>
                  </a:cubicBezTo>
                  <a:close/>
                </a:path>
              </a:pathLst>
            </a:custGeom>
            <a:solidFill>
              <a:srgbClr val="F8FAFC"/>
            </a:solidFill>
            <a:ln w="19065" cap="sq">
              <a:solidFill>
                <a:srgbClr val="38BDF8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2624341" cy="17831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1"/>
                </a:lnSpc>
              </a:pPr>
              <a:r>
                <a:rPr lang="en-US" sz="1426" b="true">
                  <a:solidFill>
                    <a:srgbClr val="00D4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VAT Invoice –</a:t>
              </a:r>
            </a:p>
            <a:p>
              <a:pPr algn="ctr">
                <a:lnSpc>
                  <a:spcPts val="1531"/>
                </a:lnSpc>
              </a:pPr>
              <a:r>
                <a:rPr lang="en-US" sz="1275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Tax ID, Net &amp; VAT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305468" y="4819231"/>
            <a:ext cx="1968256" cy="1323108"/>
            <a:chOff x="0" y="0"/>
            <a:chExt cx="2624341" cy="176414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624328" cy="1764030"/>
            </a:xfrm>
            <a:custGeom>
              <a:avLst/>
              <a:gdLst/>
              <a:ahLst/>
              <a:cxnLst/>
              <a:rect r="r" b="b" t="t" l="l"/>
              <a:pathLst>
                <a:path h="1764030" w="2624328">
                  <a:moveTo>
                    <a:pt x="0" y="294005"/>
                  </a:moveTo>
                  <a:cubicBezTo>
                    <a:pt x="0" y="131699"/>
                    <a:pt x="131699" y="0"/>
                    <a:pt x="294005" y="0"/>
                  </a:cubicBezTo>
                  <a:lnTo>
                    <a:pt x="2330323" y="0"/>
                  </a:lnTo>
                  <a:cubicBezTo>
                    <a:pt x="2492756" y="0"/>
                    <a:pt x="2624328" y="131699"/>
                    <a:pt x="2624328" y="294005"/>
                  </a:cubicBezTo>
                  <a:lnTo>
                    <a:pt x="2624328" y="1470025"/>
                  </a:lnTo>
                  <a:cubicBezTo>
                    <a:pt x="2624328" y="1632458"/>
                    <a:pt x="2492629" y="1764030"/>
                    <a:pt x="2330323" y="1764030"/>
                  </a:cubicBezTo>
                  <a:lnTo>
                    <a:pt x="294005" y="1764030"/>
                  </a:lnTo>
                  <a:cubicBezTo>
                    <a:pt x="131699" y="1764157"/>
                    <a:pt x="0" y="1632458"/>
                    <a:pt x="0" y="1470152"/>
                  </a:cubicBezTo>
                  <a:close/>
                </a:path>
              </a:pathLst>
            </a:custGeom>
            <a:solidFill>
              <a:srgbClr val="F8FAFC"/>
            </a:solidFill>
            <a:ln w="19065" cap="sq">
              <a:solidFill>
                <a:srgbClr val="38BDF8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2624341" cy="17831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1"/>
                </a:lnSpc>
              </a:pPr>
              <a:r>
                <a:rPr lang="en-US" sz="1426" b="true">
                  <a:solidFill>
                    <a:srgbClr val="00D4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Utility Invoice –</a:t>
              </a:r>
            </a:p>
            <a:p>
              <a:pPr algn="ctr">
                <a:lnSpc>
                  <a:spcPts val="1531"/>
                </a:lnSpc>
              </a:pPr>
              <a:r>
                <a:rPr lang="en-US" sz="1275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Customer ID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391929" y="4819231"/>
            <a:ext cx="1968256" cy="1323108"/>
            <a:chOff x="0" y="0"/>
            <a:chExt cx="2624341" cy="176414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624328" cy="1764030"/>
            </a:xfrm>
            <a:custGeom>
              <a:avLst/>
              <a:gdLst/>
              <a:ahLst/>
              <a:cxnLst/>
              <a:rect r="r" b="b" t="t" l="l"/>
              <a:pathLst>
                <a:path h="1764030" w="2624328">
                  <a:moveTo>
                    <a:pt x="0" y="294005"/>
                  </a:moveTo>
                  <a:cubicBezTo>
                    <a:pt x="0" y="131699"/>
                    <a:pt x="131699" y="0"/>
                    <a:pt x="294005" y="0"/>
                  </a:cubicBezTo>
                  <a:lnTo>
                    <a:pt x="2330323" y="0"/>
                  </a:lnTo>
                  <a:cubicBezTo>
                    <a:pt x="2492756" y="0"/>
                    <a:pt x="2624328" y="131699"/>
                    <a:pt x="2624328" y="294005"/>
                  </a:cubicBezTo>
                  <a:lnTo>
                    <a:pt x="2624328" y="1470025"/>
                  </a:lnTo>
                  <a:cubicBezTo>
                    <a:pt x="2624328" y="1632458"/>
                    <a:pt x="2492629" y="1764030"/>
                    <a:pt x="2330323" y="1764030"/>
                  </a:cubicBezTo>
                  <a:lnTo>
                    <a:pt x="294005" y="1764030"/>
                  </a:lnTo>
                  <a:cubicBezTo>
                    <a:pt x="131699" y="1764157"/>
                    <a:pt x="0" y="1632458"/>
                    <a:pt x="0" y="1470152"/>
                  </a:cubicBezTo>
                  <a:close/>
                </a:path>
              </a:pathLst>
            </a:custGeom>
            <a:solidFill>
              <a:srgbClr val="F8FAFC"/>
            </a:solidFill>
            <a:ln w="19065" cap="sq">
              <a:solidFill>
                <a:srgbClr val="38BDF8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2624341" cy="17831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1"/>
                </a:lnSpc>
              </a:pPr>
              <a:r>
                <a:rPr lang="en-US" sz="1426" b="true">
                  <a:solidFill>
                    <a:srgbClr val="00D4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Travel Expense –</a:t>
              </a:r>
            </a:p>
            <a:p>
              <a:pPr algn="ctr">
                <a:lnSpc>
                  <a:spcPts val="1531"/>
                </a:lnSpc>
              </a:pPr>
              <a:r>
                <a:rPr lang="en-US" sz="1275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Employee ID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478389" y="4819231"/>
            <a:ext cx="1968256" cy="1323108"/>
            <a:chOff x="0" y="0"/>
            <a:chExt cx="2624341" cy="176414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624328" cy="1764030"/>
            </a:xfrm>
            <a:custGeom>
              <a:avLst/>
              <a:gdLst/>
              <a:ahLst/>
              <a:cxnLst/>
              <a:rect r="r" b="b" t="t" l="l"/>
              <a:pathLst>
                <a:path h="1764030" w="2624328">
                  <a:moveTo>
                    <a:pt x="0" y="294005"/>
                  </a:moveTo>
                  <a:cubicBezTo>
                    <a:pt x="0" y="131699"/>
                    <a:pt x="131699" y="0"/>
                    <a:pt x="294005" y="0"/>
                  </a:cubicBezTo>
                  <a:lnTo>
                    <a:pt x="2330323" y="0"/>
                  </a:lnTo>
                  <a:cubicBezTo>
                    <a:pt x="2492756" y="0"/>
                    <a:pt x="2624328" y="131699"/>
                    <a:pt x="2624328" y="294005"/>
                  </a:cubicBezTo>
                  <a:lnTo>
                    <a:pt x="2624328" y="1470025"/>
                  </a:lnTo>
                  <a:cubicBezTo>
                    <a:pt x="2624328" y="1632458"/>
                    <a:pt x="2492629" y="1764030"/>
                    <a:pt x="2330323" y="1764030"/>
                  </a:cubicBezTo>
                  <a:lnTo>
                    <a:pt x="294005" y="1764030"/>
                  </a:lnTo>
                  <a:cubicBezTo>
                    <a:pt x="131699" y="1764157"/>
                    <a:pt x="0" y="1632458"/>
                    <a:pt x="0" y="1470152"/>
                  </a:cubicBezTo>
                  <a:close/>
                </a:path>
              </a:pathLst>
            </a:custGeom>
            <a:solidFill>
              <a:srgbClr val="FFF1F2"/>
            </a:solidFill>
            <a:ln w="19065" cap="sq">
              <a:solidFill>
                <a:srgbClr val="F43F5E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2624341" cy="17831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1"/>
                </a:lnSpc>
              </a:pPr>
              <a:r>
                <a:rPr lang="en-US" sz="1426" b="true">
                  <a:solidFill>
                    <a:srgbClr val="F43F5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Retail Receipt –</a:t>
              </a:r>
            </a:p>
            <a:p>
              <a:pPr algn="ctr">
                <a:lnSpc>
                  <a:spcPts val="1531"/>
                </a:lnSpc>
              </a:pPr>
              <a:r>
                <a:rPr lang="en-US" sz="1275">
                  <a:solidFill>
                    <a:srgbClr val="F43F5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⚠️ Reject Tax Deduct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699438" y="6562515"/>
            <a:ext cx="7198138" cy="952481"/>
            <a:chOff x="0" y="0"/>
            <a:chExt cx="9597517" cy="126997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597517" cy="1270000"/>
            </a:xfrm>
            <a:custGeom>
              <a:avLst/>
              <a:gdLst/>
              <a:ahLst/>
              <a:cxnLst/>
              <a:rect r="r" b="b" t="t" l="l"/>
              <a:pathLst>
                <a:path h="1270000" w="9597517">
                  <a:moveTo>
                    <a:pt x="0" y="211709"/>
                  </a:moveTo>
                  <a:cubicBezTo>
                    <a:pt x="0" y="94742"/>
                    <a:pt x="94742" y="0"/>
                    <a:pt x="211709" y="0"/>
                  </a:cubicBezTo>
                  <a:lnTo>
                    <a:pt x="9385808" y="0"/>
                  </a:lnTo>
                  <a:cubicBezTo>
                    <a:pt x="9502648" y="0"/>
                    <a:pt x="9597517" y="94742"/>
                    <a:pt x="9597517" y="211709"/>
                  </a:cubicBezTo>
                  <a:lnTo>
                    <a:pt x="9597517" y="1058291"/>
                  </a:lnTo>
                  <a:cubicBezTo>
                    <a:pt x="9597517" y="1175131"/>
                    <a:pt x="9502775" y="1270000"/>
                    <a:pt x="9385808" y="1270000"/>
                  </a:cubicBezTo>
                  <a:lnTo>
                    <a:pt x="211709" y="1270000"/>
                  </a:lnTo>
                  <a:cubicBezTo>
                    <a:pt x="94742" y="1270000"/>
                    <a:pt x="0" y="1175258"/>
                    <a:pt x="0" y="1058291"/>
                  </a:cubicBezTo>
                  <a:close/>
                </a:path>
              </a:pathLst>
            </a:custGeom>
            <a:solidFill>
              <a:srgbClr val="FEF3C7"/>
            </a:solidFill>
            <a:ln w="19065" cap="sq">
              <a:solidFill>
                <a:srgbClr val="F59E0B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9597517" cy="12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🔍 VALIDATION –</a:t>
              </a:r>
            </a:p>
            <a:p>
              <a:pPr algn="ctr">
                <a:lnSpc>
                  <a:spcPts val="1711"/>
                </a:lnSpc>
              </a:pPr>
              <a:r>
                <a:rPr lang="en-US" sz="1426">
                  <a:solidFill>
                    <a:srgbClr val="F59E0B"/>
                  </a:solidFill>
                  <a:latin typeface="Arial"/>
                  <a:ea typeface="Arial"/>
                  <a:cs typeface="Arial"/>
                  <a:sym typeface="Arial"/>
                </a:rPr>
                <a:t>Math check: Net + VAT = Total? | Within budget: &lt;= 100M VND?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424899" y="7935192"/>
            <a:ext cx="3725285" cy="1323108"/>
            <a:chOff x="0" y="0"/>
            <a:chExt cx="4967046" cy="176414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966970" cy="1764030"/>
            </a:xfrm>
            <a:custGeom>
              <a:avLst/>
              <a:gdLst/>
              <a:ahLst/>
              <a:cxnLst/>
              <a:rect r="r" b="b" t="t" l="l"/>
              <a:pathLst>
                <a:path h="1764030" w="4966970">
                  <a:moveTo>
                    <a:pt x="0" y="294005"/>
                  </a:moveTo>
                  <a:cubicBezTo>
                    <a:pt x="0" y="131699"/>
                    <a:pt x="131699" y="0"/>
                    <a:pt x="294005" y="0"/>
                  </a:cubicBezTo>
                  <a:lnTo>
                    <a:pt x="4672965" y="0"/>
                  </a:lnTo>
                  <a:cubicBezTo>
                    <a:pt x="4835398" y="0"/>
                    <a:pt x="4966970" y="131699"/>
                    <a:pt x="4966970" y="294005"/>
                  </a:cubicBezTo>
                  <a:lnTo>
                    <a:pt x="4966970" y="1470025"/>
                  </a:lnTo>
                  <a:cubicBezTo>
                    <a:pt x="4966970" y="1632458"/>
                    <a:pt x="4835271" y="1764030"/>
                    <a:pt x="4672965" y="1764030"/>
                  </a:cubicBezTo>
                  <a:lnTo>
                    <a:pt x="294005" y="1764030"/>
                  </a:lnTo>
                  <a:cubicBezTo>
                    <a:pt x="131699" y="1764157"/>
                    <a:pt x="0" y="1632458"/>
                    <a:pt x="0" y="1470152"/>
                  </a:cubicBezTo>
                  <a:close/>
                </a:path>
              </a:pathLst>
            </a:custGeom>
            <a:solidFill>
              <a:srgbClr val="DCFCE7"/>
            </a:solidFill>
            <a:ln w="19065" cap="sq">
              <a:solidFill>
                <a:srgbClr val="22C55E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4967046" cy="17927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00E5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APPROVED (Pass)</a:t>
              </a:r>
            </a:p>
            <a:p>
              <a:pPr algn="ctr">
                <a:lnSpc>
                  <a:spcPts val="1711"/>
                </a:lnSpc>
              </a:pPr>
              <a:r>
                <a:rPr lang="en-US" sz="1426">
                  <a:solidFill>
                    <a:srgbClr val="00E599"/>
                  </a:solidFill>
                  <a:latin typeface="Arial"/>
                  <a:ea typeface="Arial"/>
                  <a:cs typeface="Arial"/>
                  <a:sym typeface="Arial"/>
                </a:rPr>
                <a:t>Write to Database / Ledger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446831" y="7935192"/>
            <a:ext cx="3725285" cy="1323108"/>
            <a:chOff x="0" y="0"/>
            <a:chExt cx="4967046" cy="176414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966970" cy="1764030"/>
            </a:xfrm>
            <a:custGeom>
              <a:avLst/>
              <a:gdLst/>
              <a:ahLst/>
              <a:cxnLst/>
              <a:rect r="r" b="b" t="t" l="l"/>
              <a:pathLst>
                <a:path h="1764030" w="4966970">
                  <a:moveTo>
                    <a:pt x="0" y="294005"/>
                  </a:moveTo>
                  <a:cubicBezTo>
                    <a:pt x="0" y="131699"/>
                    <a:pt x="131699" y="0"/>
                    <a:pt x="294005" y="0"/>
                  </a:cubicBezTo>
                  <a:lnTo>
                    <a:pt x="4672965" y="0"/>
                  </a:lnTo>
                  <a:cubicBezTo>
                    <a:pt x="4835398" y="0"/>
                    <a:pt x="4966970" y="131699"/>
                    <a:pt x="4966970" y="294005"/>
                  </a:cubicBezTo>
                  <a:lnTo>
                    <a:pt x="4966970" y="1470025"/>
                  </a:lnTo>
                  <a:cubicBezTo>
                    <a:pt x="4966970" y="1632458"/>
                    <a:pt x="4835271" y="1764030"/>
                    <a:pt x="4672965" y="1764030"/>
                  </a:cubicBezTo>
                  <a:lnTo>
                    <a:pt x="294005" y="1764030"/>
                  </a:lnTo>
                  <a:cubicBezTo>
                    <a:pt x="131699" y="1764157"/>
                    <a:pt x="0" y="1632458"/>
                    <a:pt x="0" y="1470152"/>
                  </a:cubicBezTo>
                  <a:close/>
                </a:path>
              </a:pathLst>
            </a:custGeom>
            <a:solidFill>
              <a:srgbClr val="FEE2E2"/>
            </a:solidFill>
            <a:ln w="19065" cap="sq">
              <a:solidFill>
                <a:srgbClr val="F43F5E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4967046" cy="17927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43F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❌ REJECTED (Fail)</a:t>
              </a:r>
            </a:p>
            <a:p>
              <a:pPr algn="ctr">
                <a:lnSpc>
                  <a:spcPts val="1711"/>
                </a:lnSpc>
              </a:pPr>
              <a:r>
                <a:rPr lang="en-US" sz="1426">
                  <a:solidFill>
                    <a:srgbClr val="F43F5E"/>
                  </a:solidFill>
                  <a:latin typeface="Arial"/>
                  <a:ea typeface="Arial"/>
                  <a:cs typeface="Arial"/>
                  <a:sym typeface="Arial"/>
                </a:rPr>
                <a:t>Hard Stop Pipeline!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91446" y="1235459"/>
            <a:ext cx="8025698" cy="8741480"/>
            <a:chOff x="0" y="0"/>
            <a:chExt cx="2113764" cy="230228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13764" cy="2302283"/>
            </a:xfrm>
            <a:custGeom>
              <a:avLst/>
              <a:gdLst/>
              <a:ahLst/>
              <a:cxnLst/>
              <a:rect r="r" b="b" t="t" l="l"/>
              <a:pathLst>
                <a:path h="2302283" w="2113764">
                  <a:moveTo>
                    <a:pt x="49197" y="0"/>
                  </a:moveTo>
                  <a:lnTo>
                    <a:pt x="2064568" y="0"/>
                  </a:lnTo>
                  <a:cubicBezTo>
                    <a:pt x="2091738" y="0"/>
                    <a:pt x="2113764" y="22026"/>
                    <a:pt x="2113764" y="49197"/>
                  </a:cubicBezTo>
                  <a:lnTo>
                    <a:pt x="2113764" y="2253086"/>
                  </a:lnTo>
                  <a:cubicBezTo>
                    <a:pt x="2113764" y="2280257"/>
                    <a:pt x="2091738" y="2302283"/>
                    <a:pt x="2064568" y="2302283"/>
                  </a:cubicBezTo>
                  <a:lnTo>
                    <a:pt x="49197" y="2302283"/>
                  </a:lnTo>
                  <a:cubicBezTo>
                    <a:pt x="36149" y="2302283"/>
                    <a:pt x="23636" y="2297100"/>
                    <a:pt x="14409" y="2287873"/>
                  </a:cubicBezTo>
                  <a:cubicBezTo>
                    <a:pt x="5183" y="2278647"/>
                    <a:pt x="0" y="2266134"/>
                    <a:pt x="0" y="2253086"/>
                  </a:cubicBezTo>
                  <a:lnTo>
                    <a:pt x="0" y="49197"/>
                  </a:lnTo>
                  <a:cubicBezTo>
                    <a:pt x="0" y="22026"/>
                    <a:pt x="22026" y="0"/>
                    <a:pt x="49197" y="0"/>
                  </a:cubicBezTo>
                  <a:close/>
                </a:path>
              </a:pathLst>
            </a:custGeom>
            <a:solidFill>
              <a:srgbClr val="071322"/>
            </a:solidFill>
            <a:ln w="19050" cap="rnd">
              <a:solidFill>
                <a:srgbClr val="38BDF8"/>
              </a:solidFill>
              <a:prstDash val="solid"/>
              <a:round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2113764" cy="2340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1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3094825" y="3492284"/>
            <a:ext cx="366189" cy="26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94A3B8"/>
                </a:solidFill>
                <a:latin typeface="Arial Bold"/>
                <a:ea typeface="Arial Bold"/>
                <a:cs typeface="Arial Bold"/>
                <a:sym typeface="Arial Bold"/>
              </a:rPr>
              <a:t>↓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094825" y="4453157"/>
            <a:ext cx="366189" cy="26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94A3B8"/>
                </a:solidFill>
                <a:latin typeface="Arial Bold"/>
                <a:ea typeface="Arial Bold"/>
                <a:cs typeface="Arial Bold"/>
                <a:sym typeface="Arial Bold"/>
              </a:rPr>
              <a:t>↓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457771" y="391140"/>
            <a:ext cx="1612528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1"/>
              </a:lnSpc>
              <a:spcBef>
                <a:spcPct val="0"/>
              </a:spcBef>
            </a:pPr>
            <a:r>
              <a:rPr lang="en-US" b="true" sz="2901" strike="noStrike" u="none">
                <a:solidFill>
                  <a:srgbClr val="F8FAFC"/>
                </a:solidFill>
                <a:latin typeface="Arial Bold"/>
                <a:ea typeface="Arial Bold"/>
                <a:cs typeface="Arial Bold"/>
                <a:sym typeface="Arial Bold"/>
              </a:rPr>
              <a:t>TỰ ĐỘNG BÓC TÁCH &amp; DUYỆT HÓA ĐƠN (PDF → DATA)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094825" y="6196441"/>
            <a:ext cx="366189" cy="26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94A3B8"/>
                </a:solidFill>
                <a:latin typeface="Arial Bold"/>
                <a:ea typeface="Arial Bold"/>
                <a:cs typeface="Arial Bold"/>
                <a:sym typeface="Arial Bold"/>
              </a:rPr>
              <a:t>↓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094825" y="7569117"/>
            <a:ext cx="366189" cy="26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94A3B8"/>
                </a:solidFill>
                <a:latin typeface="Arial Bold"/>
                <a:ea typeface="Arial Bold"/>
                <a:cs typeface="Arial Bold"/>
                <a:sym typeface="Arial Bold"/>
              </a:rPr>
              <a:t>↓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-2131885" y="2530213"/>
            <a:ext cx="13179313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>
                <a:solidFill>
                  <a:srgbClr val="38BDF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📋 Nhiệm vụ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72460" y="3550431"/>
            <a:ext cx="7255226" cy="71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1"/>
              </a:lnSpc>
            </a:pPr>
            <a:r>
              <a:rPr lang="en-US" sz="2051" b="true">
                <a:solidFill>
                  <a:srgbClr val="F8FAF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051" b="true">
                <a:solidFill>
                  <a:srgbClr val="00D4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📦  1. P</a:t>
            </a:r>
            <a:r>
              <a:rPr lang="en-US" sz="2051" b="true">
                <a:solidFill>
                  <a:srgbClr val="00D4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hân loại 4 trang hóa đơn (4 Invoice Types)</a:t>
            </a:r>
          </a:p>
          <a:p>
            <a:pPr algn="l">
              <a:lnSpc>
                <a:spcPts val="2871"/>
              </a:lnSpc>
            </a:pPr>
          </a:p>
        </p:txBody>
      </p:sp>
      <p:sp>
        <p:nvSpPr>
          <p:cNvPr name="TextBox 47" id="47"/>
          <p:cNvSpPr txBox="true"/>
          <p:nvPr/>
        </p:nvSpPr>
        <p:spPr>
          <a:xfrm rot="0">
            <a:off x="1028700" y="4233577"/>
            <a:ext cx="7408307" cy="1369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6" indent="-172718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F8FAF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VA</a:t>
            </a:r>
            <a:r>
              <a:rPr lang="en-US" b="true" sz="1599">
                <a:solidFill>
                  <a:srgbClr val="F8FAF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 Invoice:</a:t>
            </a:r>
            <a:r>
              <a:rPr lang="en-US" sz="1599">
                <a:solidFill>
                  <a:srgbClr val="F8FAFC"/>
                </a:solidFill>
                <a:latin typeface="Noto Sans"/>
                <a:ea typeface="Noto Sans"/>
                <a:cs typeface="Noto Sans"/>
                <a:sym typeface="Noto Sans"/>
              </a:rPr>
              <a:t> Lấy MST, tiền hàng &amp; tiền thuế.</a:t>
            </a:r>
          </a:p>
          <a:p>
            <a:pPr algn="l" marL="345436" indent="-172718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F8FAFC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b="true" sz="1599">
                <a:solidFill>
                  <a:srgbClr val="F8FAF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Utility Invoice: </a:t>
            </a:r>
            <a:r>
              <a:rPr lang="en-US" sz="1599">
                <a:solidFill>
                  <a:srgbClr val="F8FAFC"/>
                </a:solidFill>
                <a:latin typeface="Noto Sans"/>
                <a:ea typeface="Noto Sans"/>
                <a:cs typeface="Noto Sans"/>
                <a:sym typeface="Noto Sans"/>
              </a:rPr>
              <a:t>Lấy Customer ID để đối chiếu điện/nước.</a:t>
            </a:r>
          </a:p>
          <a:p>
            <a:pPr algn="l" marL="345436" indent="-172718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F8FAFC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b="true" sz="1599">
                <a:solidFill>
                  <a:srgbClr val="F8FAF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Travel Expense Invoice:</a:t>
            </a:r>
            <a:r>
              <a:rPr lang="en-US" sz="1599">
                <a:solidFill>
                  <a:srgbClr val="F8FAFC"/>
                </a:solidFill>
                <a:latin typeface="Noto Sans"/>
                <a:ea typeface="Noto Sans"/>
                <a:cs typeface="Noto Sans"/>
                <a:sym typeface="Noto Sans"/>
              </a:rPr>
              <a:t> Lấy Employee ID để hoàn tiền công tác.</a:t>
            </a:r>
          </a:p>
          <a:p>
            <a:pPr algn="l" marL="345436" indent="-172718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F8FAFC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b="true" sz="1599">
                <a:solidFill>
                  <a:srgbClr val="F8FAF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Retail Receipt (No Tax ID): </a:t>
            </a:r>
            <a:r>
              <a:rPr lang="en-US" b="true" sz="1599">
                <a:solidFill>
                  <a:srgbClr val="F59E0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Gắn cờ cảnh báo</a:t>
            </a:r>
            <a:r>
              <a:rPr lang="en-US" sz="1599">
                <a:solidFill>
                  <a:srgbClr val="F8FAFC"/>
                </a:solidFill>
                <a:latin typeface="Noto Sans"/>
                <a:ea typeface="Noto Sans"/>
                <a:cs typeface="Noto Sans"/>
                <a:sym typeface="Noto Sans"/>
              </a:rPr>
              <a:t> Không duyệt trừ thuế.</a:t>
            </a:r>
          </a:p>
          <a:p>
            <a:pPr algn="l">
              <a:lnSpc>
                <a:spcPts val="2239"/>
              </a:lnSpc>
            </a:pPr>
          </a:p>
        </p:txBody>
      </p:sp>
      <p:sp>
        <p:nvSpPr>
          <p:cNvPr name="TextBox 48" id="48"/>
          <p:cNvSpPr txBox="true"/>
          <p:nvPr/>
        </p:nvSpPr>
        <p:spPr>
          <a:xfrm rot="0">
            <a:off x="1028700" y="6338374"/>
            <a:ext cx="8946866" cy="709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1"/>
              </a:lnSpc>
            </a:pPr>
            <a:r>
              <a:rPr lang="en-US" sz="2051" b="true">
                <a:solidFill>
                  <a:srgbClr val="00D4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⚙️ 2. Luồ</a:t>
            </a:r>
            <a:r>
              <a:rPr lang="en-US" sz="2051" b="true">
                <a:solidFill>
                  <a:srgbClr val="00D4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ng xử lý &amp; Điều kiện </a:t>
            </a:r>
          </a:p>
          <a:p>
            <a:pPr algn="l">
              <a:lnSpc>
                <a:spcPts val="2871"/>
              </a:lnSpc>
            </a:pPr>
          </a:p>
        </p:txBody>
      </p:sp>
      <p:sp>
        <p:nvSpPr>
          <p:cNvPr name="TextBox 49" id="49"/>
          <p:cNvSpPr txBox="true"/>
          <p:nvPr/>
        </p:nvSpPr>
        <p:spPr>
          <a:xfrm rot="0">
            <a:off x="1028700" y="7223674"/>
            <a:ext cx="7408307" cy="1369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6" indent="-172718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F8FAF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VA</a:t>
            </a:r>
            <a:r>
              <a:rPr lang="en-US" b="true" sz="1599">
                <a:solidFill>
                  <a:srgbClr val="F8FAF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 Invoice:</a:t>
            </a:r>
            <a:r>
              <a:rPr lang="en-US" sz="1599">
                <a:solidFill>
                  <a:srgbClr val="F8FAFC"/>
                </a:solidFill>
                <a:latin typeface="Noto Sans"/>
                <a:ea typeface="Noto Sans"/>
                <a:cs typeface="Noto Sans"/>
                <a:sym typeface="Noto Sans"/>
              </a:rPr>
              <a:t> Lấy MST, tiền hàng &amp; tiền thuế.</a:t>
            </a:r>
          </a:p>
          <a:p>
            <a:pPr algn="l" marL="345436" indent="-172718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F8FAFC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b="true" sz="1599">
                <a:solidFill>
                  <a:srgbClr val="F8FAF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Utility Invoice: </a:t>
            </a:r>
            <a:r>
              <a:rPr lang="en-US" sz="1599">
                <a:solidFill>
                  <a:srgbClr val="F8FAFC"/>
                </a:solidFill>
                <a:latin typeface="Noto Sans"/>
                <a:ea typeface="Noto Sans"/>
                <a:cs typeface="Noto Sans"/>
                <a:sym typeface="Noto Sans"/>
              </a:rPr>
              <a:t>Lấy Customer ID để đối chiếu điện/nước.</a:t>
            </a:r>
          </a:p>
          <a:p>
            <a:pPr algn="l" marL="345436" indent="-172718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F8FAFC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b="true" sz="1599">
                <a:solidFill>
                  <a:srgbClr val="F8FAF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Travel Expense Invoice:</a:t>
            </a:r>
            <a:r>
              <a:rPr lang="en-US" sz="1599">
                <a:solidFill>
                  <a:srgbClr val="F8FAFC"/>
                </a:solidFill>
                <a:latin typeface="Noto Sans"/>
                <a:ea typeface="Noto Sans"/>
                <a:cs typeface="Noto Sans"/>
                <a:sym typeface="Noto Sans"/>
              </a:rPr>
              <a:t> Lấy Employee ID để hoàn tiền công tác.</a:t>
            </a:r>
          </a:p>
          <a:p>
            <a:pPr algn="l" marL="345436" indent="-172718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F8FAFC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b="true" sz="1599">
                <a:solidFill>
                  <a:srgbClr val="F8FAF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Retail Receipt (No Tax ID): ⚠️ </a:t>
            </a:r>
            <a:r>
              <a:rPr lang="en-US" b="true" sz="1599">
                <a:solidFill>
                  <a:srgbClr val="F59E0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Gắn cờ cảnh báo</a:t>
            </a:r>
            <a:r>
              <a:rPr lang="en-US" sz="1599">
                <a:solidFill>
                  <a:srgbClr val="F8FAFC"/>
                </a:solidFill>
                <a:latin typeface="Noto Sans"/>
                <a:ea typeface="Noto Sans"/>
                <a:cs typeface="Noto Sans"/>
                <a:sym typeface="Noto Sans"/>
              </a:rPr>
              <a:t> Không duyệt.</a:t>
            </a:r>
          </a:p>
          <a:p>
            <a:pPr algn="l">
              <a:lnSpc>
                <a:spcPts val="223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6142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86698" y="427815"/>
            <a:ext cx="3056487" cy="462134"/>
            <a:chOff x="0" y="0"/>
            <a:chExt cx="4075316" cy="6161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75303" cy="616204"/>
            </a:xfrm>
            <a:custGeom>
              <a:avLst/>
              <a:gdLst/>
              <a:ahLst/>
              <a:cxnLst/>
              <a:rect r="r" b="b" t="t" l="l"/>
              <a:pathLst>
                <a:path h="616204" w="4075303">
                  <a:moveTo>
                    <a:pt x="0" y="102743"/>
                  </a:moveTo>
                  <a:cubicBezTo>
                    <a:pt x="0" y="45974"/>
                    <a:pt x="45974" y="0"/>
                    <a:pt x="102743" y="0"/>
                  </a:cubicBezTo>
                  <a:lnTo>
                    <a:pt x="3972560" y="0"/>
                  </a:lnTo>
                  <a:cubicBezTo>
                    <a:pt x="4029329" y="0"/>
                    <a:pt x="4075303" y="45974"/>
                    <a:pt x="4075303" y="102743"/>
                  </a:cubicBezTo>
                  <a:lnTo>
                    <a:pt x="4075303" y="513461"/>
                  </a:lnTo>
                  <a:cubicBezTo>
                    <a:pt x="4075303" y="570230"/>
                    <a:pt x="4029329" y="616204"/>
                    <a:pt x="3972560" y="616204"/>
                  </a:cubicBezTo>
                  <a:lnTo>
                    <a:pt x="102743" y="616204"/>
                  </a:lnTo>
                  <a:cubicBezTo>
                    <a:pt x="45974" y="616204"/>
                    <a:pt x="0" y="570230"/>
                    <a:pt x="0" y="513461"/>
                  </a:cubicBezTo>
                  <a:close/>
                </a:path>
              </a:pathLst>
            </a:custGeom>
            <a:solidFill>
              <a:srgbClr val="08263A"/>
            </a:solidFill>
            <a:ln w="19050" cap="sq">
              <a:solidFill>
                <a:srgbClr val="00D4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4075316" cy="6352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1"/>
                </a:lnSpc>
              </a:pPr>
              <a:r>
                <a:rPr lang="en-US" sz="1426" b="true">
                  <a:solidFill>
                    <a:srgbClr val="00D4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TRIẾT LÝ CỐT LÕI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98137" y="914371"/>
            <a:ext cx="16105565" cy="1185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152" b="true">
                <a:solidFill>
                  <a:srgbClr val="F8FAFC"/>
                </a:solidFill>
                <a:latin typeface="Arial Bold"/>
                <a:ea typeface="Arial Bold"/>
                <a:cs typeface="Arial Bold"/>
                <a:sym typeface="Arial Bold"/>
              </a:rPr>
              <a:t>Đối Chiếu Kiến Trúc: Task-Centric vs Asset-Centric</a:t>
            </a:r>
          </a:p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Chuỗi hành động thực thi (Airflow Tasks) vs Mạng lưới tài sản dữ liệu (Dagster Assets)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0" y="0"/>
            <a:ext cx="18288000" cy="10287000"/>
            <a:chOff x="0" y="0"/>
            <a:chExt cx="24236937" cy="13633277"/>
          </a:xfrm>
        </p:grpSpPr>
        <p:sp>
          <p:nvSpPr>
            <p:cNvPr name="Freeform 9" id="9" descr="mermaid_diagram_4k.png"/>
            <p:cNvSpPr/>
            <p:nvPr/>
          </p:nvSpPr>
          <p:spPr>
            <a:xfrm flipH="false" flipV="false" rot="0">
              <a:off x="0" y="0"/>
              <a:ext cx="24236950" cy="13633328"/>
            </a:xfrm>
            <a:custGeom>
              <a:avLst/>
              <a:gdLst/>
              <a:ahLst/>
              <a:cxnLst/>
              <a:rect r="r" b="b" t="t" l="l"/>
              <a:pathLst>
                <a:path h="13633328" w="24236950">
                  <a:moveTo>
                    <a:pt x="0" y="0"/>
                  </a:moveTo>
                  <a:lnTo>
                    <a:pt x="24236950" y="0"/>
                  </a:lnTo>
                  <a:lnTo>
                    <a:pt x="24236950" y="13633328"/>
                  </a:lnTo>
                  <a:lnTo>
                    <a:pt x="0" y="136333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961" cy="13715949"/>
            </a:xfrm>
            <a:custGeom>
              <a:avLst/>
              <a:gdLst/>
              <a:ahLst/>
              <a:cxnLst/>
              <a:rect r="r" b="b" t="t" l="l"/>
              <a:pathLst>
                <a:path h="13715949" w="24383961">
                  <a:moveTo>
                    <a:pt x="0" y="0"/>
                  </a:moveTo>
                  <a:lnTo>
                    <a:pt x="24383961" y="0"/>
                  </a:lnTo>
                  <a:lnTo>
                    <a:pt x="24383961" y="13715949"/>
                  </a:lnTo>
                  <a:lnTo>
                    <a:pt x="0" y="13715949"/>
                  </a:lnTo>
                  <a:close/>
                </a:path>
              </a:pathLst>
            </a:custGeom>
            <a:solidFill>
              <a:srgbClr val="06142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294940"/>
            <a:ext cx="3588010" cy="499501"/>
            <a:chOff x="0" y="0"/>
            <a:chExt cx="4784014" cy="6660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83963" cy="665988"/>
            </a:xfrm>
            <a:custGeom>
              <a:avLst/>
              <a:gdLst/>
              <a:ahLst/>
              <a:cxnLst/>
              <a:rect r="r" b="b" t="t" l="l"/>
              <a:pathLst>
                <a:path h="665988" w="4783963">
                  <a:moveTo>
                    <a:pt x="0" y="110998"/>
                  </a:moveTo>
                  <a:cubicBezTo>
                    <a:pt x="0" y="49657"/>
                    <a:pt x="49657" y="0"/>
                    <a:pt x="110998" y="0"/>
                  </a:cubicBezTo>
                  <a:lnTo>
                    <a:pt x="4672965" y="0"/>
                  </a:lnTo>
                  <a:cubicBezTo>
                    <a:pt x="4734306" y="0"/>
                    <a:pt x="4783963" y="49657"/>
                    <a:pt x="4783963" y="110998"/>
                  </a:cubicBezTo>
                  <a:lnTo>
                    <a:pt x="4783963" y="554990"/>
                  </a:lnTo>
                  <a:cubicBezTo>
                    <a:pt x="4783963" y="616331"/>
                    <a:pt x="4734306" y="665988"/>
                    <a:pt x="4672965" y="665988"/>
                  </a:cubicBezTo>
                  <a:lnTo>
                    <a:pt x="110998" y="665988"/>
                  </a:lnTo>
                  <a:cubicBezTo>
                    <a:pt x="49657" y="665988"/>
                    <a:pt x="0" y="616331"/>
                    <a:pt x="0" y="554990"/>
                  </a:cubicBezTo>
                  <a:close/>
                </a:path>
              </a:pathLst>
            </a:custGeom>
            <a:solidFill>
              <a:srgbClr val="08263A"/>
            </a:solidFill>
            <a:ln w="19065" cap="sq">
              <a:solidFill>
                <a:srgbClr val="00D4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4784014" cy="685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1"/>
                </a:lnSpc>
              </a:pPr>
              <a:r>
                <a:rPr lang="en-US" sz="1426" b="true">
                  <a:solidFill>
                    <a:srgbClr val="00D4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DEEP DIVE AIRFLOW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09717" y="1028700"/>
            <a:ext cx="7288855" cy="1809750"/>
            <a:chOff x="0" y="0"/>
            <a:chExt cx="9718473" cy="2413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718394" cy="2413000"/>
            </a:xfrm>
            <a:custGeom>
              <a:avLst/>
              <a:gdLst/>
              <a:ahLst/>
              <a:cxnLst/>
              <a:rect r="r" b="b" t="t" l="l"/>
              <a:pathLst>
                <a:path h="2413000" w="9718394">
                  <a:moveTo>
                    <a:pt x="0" y="402122"/>
                  </a:moveTo>
                  <a:cubicBezTo>
                    <a:pt x="0" y="180109"/>
                    <a:pt x="176741" y="0"/>
                    <a:pt x="394603" y="0"/>
                  </a:cubicBezTo>
                  <a:lnTo>
                    <a:pt x="9323791" y="0"/>
                  </a:lnTo>
                  <a:cubicBezTo>
                    <a:pt x="9541784" y="0"/>
                    <a:pt x="9718394" y="180109"/>
                    <a:pt x="9718394" y="402122"/>
                  </a:cubicBezTo>
                  <a:lnTo>
                    <a:pt x="9718394" y="2010878"/>
                  </a:lnTo>
                  <a:cubicBezTo>
                    <a:pt x="9718394" y="2233026"/>
                    <a:pt x="9541653" y="2413000"/>
                    <a:pt x="9323791" y="2413000"/>
                  </a:cubicBezTo>
                  <a:lnTo>
                    <a:pt x="394603" y="2413000"/>
                  </a:lnTo>
                  <a:cubicBezTo>
                    <a:pt x="176741" y="2413000"/>
                    <a:pt x="0" y="2232891"/>
                    <a:pt x="0" y="2010878"/>
                  </a:cubicBezTo>
                  <a:close/>
                </a:path>
              </a:pathLst>
            </a:custGeom>
            <a:solidFill>
              <a:srgbClr val="041A1D"/>
            </a:solidFill>
            <a:ln w="19050" cap="sq">
              <a:solidFill>
                <a:srgbClr val="F59E0B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9718473" cy="2441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🔄 1. Bị Ép Re-Parse Liên Tục (30s/lần)</a:t>
              </a:r>
            </a:p>
            <a:p>
              <a:pPr algn="l">
                <a:lnSpc>
                  <a:spcPts val="1711"/>
                </a:lnSpc>
              </a:pPr>
              <a:r>
                <a:rPr lang="en-US" sz="1426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Scheduler không lưu cấu trúc trên RAM mà liên tục đọc và biên dịch lại code Python. Lỡ import OCR nặng ngoài hàm &amp;rarr; Treo 100% CPU toàn cụm.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09717" y="3375311"/>
            <a:ext cx="7368702" cy="1809750"/>
            <a:chOff x="0" y="0"/>
            <a:chExt cx="9824937" cy="2413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824857" cy="2413000"/>
            </a:xfrm>
            <a:custGeom>
              <a:avLst/>
              <a:gdLst/>
              <a:ahLst/>
              <a:cxnLst/>
              <a:rect r="r" b="b" t="t" l="l"/>
              <a:pathLst>
                <a:path h="2413000" w="9824857">
                  <a:moveTo>
                    <a:pt x="0" y="402122"/>
                  </a:moveTo>
                  <a:cubicBezTo>
                    <a:pt x="0" y="180109"/>
                    <a:pt x="178677" y="0"/>
                    <a:pt x="398926" y="0"/>
                  </a:cubicBezTo>
                  <a:lnTo>
                    <a:pt x="9425930" y="0"/>
                  </a:lnTo>
                  <a:cubicBezTo>
                    <a:pt x="9646312" y="0"/>
                    <a:pt x="9824857" y="180109"/>
                    <a:pt x="9824857" y="402122"/>
                  </a:cubicBezTo>
                  <a:lnTo>
                    <a:pt x="9824857" y="2010878"/>
                  </a:lnTo>
                  <a:cubicBezTo>
                    <a:pt x="9824857" y="2233026"/>
                    <a:pt x="9646179" y="2413000"/>
                    <a:pt x="9425930" y="2413000"/>
                  </a:cubicBezTo>
                  <a:lnTo>
                    <a:pt x="398926" y="2413000"/>
                  </a:lnTo>
                  <a:cubicBezTo>
                    <a:pt x="178677" y="2413000"/>
                    <a:pt x="0" y="2232891"/>
                    <a:pt x="0" y="2010878"/>
                  </a:cubicBezTo>
                  <a:close/>
                </a:path>
              </a:pathLst>
            </a:custGeom>
            <a:solidFill>
              <a:srgbClr val="041A1D"/>
            </a:solidFill>
            <a:ln w="19050" cap="sq">
              <a:solidFill>
                <a:srgbClr val="F43F5E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9824937" cy="2441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43F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🗄️ 2. State Machine Bắn Query DB Dồn Dập</a:t>
              </a:r>
            </a:p>
            <a:p>
              <a:pPr algn="l">
                <a:lnSpc>
                  <a:spcPts val="1711"/>
                </a:lnSpc>
              </a:pPr>
              <a:r>
                <a:rPr lang="en-US" sz="1426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Mỗi bước chuyển trạng thái (None &amp;rarr; Scheduled &amp;rarr; Queued &amp;rarr; Running &amp;rarr; Success) đều UPDATE Postgres &amp;rarr; Nguy cơ lock bảng khi tải lớn.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09717" y="5721921"/>
            <a:ext cx="7368702" cy="1809750"/>
            <a:chOff x="0" y="0"/>
            <a:chExt cx="9824937" cy="2413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824857" cy="2413000"/>
            </a:xfrm>
            <a:custGeom>
              <a:avLst/>
              <a:gdLst/>
              <a:ahLst/>
              <a:cxnLst/>
              <a:rect r="r" b="b" t="t" l="l"/>
              <a:pathLst>
                <a:path h="2413000" w="9824857">
                  <a:moveTo>
                    <a:pt x="0" y="402122"/>
                  </a:moveTo>
                  <a:cubicBezTo>
                    <a:pt x="0" y="180109"/>
                    <a:pt x="178677" y="0"/>
                    <a:pt x="398926" y="0"/>
                  </a:cubicBezTo>
                  <a:lnTo>
                    <a:pt x="9425930" y="0"/>
                  </a:lnTo>
                  <a:cubicBezTo>
                    <a:pt x="9646312" y="0"/>
                    <a:pt x="9824857" y="180109"/>
                    <a:pt x="9824857" y="402122"/>
                  </a:cubicBezTo>
                  <a:lnTo>
                    <a:pt x="9824857" y="2010878"/>
                  </a:lnTo>
                  <a:cubicBezTo>
                    <a:pt x="9824857" y="2233026"/>
                    <a:pt x="9646179" y="2413000"/>
                    <a:pt x="9425930" y="2413000"/>
                  </a:cubicBezTo>
                  <a:lnTo>
                    <a:pt x="398926" y="2413000"/>
                  </a:lnTo>
                  <a:cubicBezTo>
                    <a:pt x="178677" y="2413000"/>
                    <a:pt x="0" y="2232891"/>
                    <a:pt x="0" y="2010878"/>
                  </a:cubicBezTo>
                  <a:close/>
                </a:path>
              </a:pathLst>
            </a:custGeom>
            <a:solidFill>
              <a:srgbClr val="041A1D"/>
            </a:solidFill>
            <a:ln w="19050" cap="sq">
              <a:solidFill>
                <a:srgbClr val="00D4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9824937" cy="2441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00D4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📦 3. Ép Nạp Dữ Liệu XCom Thẳng Vào Postgres</a:t>
              </a:r>
            </a:p>
            <a:p>
              <a:pPr algn="l">
                <a:lnSpc>
                  <a:spcPts val="1711"/>
                </a:lnSpc>
              </a:pPr>
              <a:r>
                <a:rPr lang="en-US" sz="1426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Khi task return, Airflow serialize rồi INSERT INTO xcom. Dữ liệu lớn (ảnh hóa đơn, DataFrame) làm phình to DB và nghẽn I/O hệ thống.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09717" y="8065071"/>
            <a:ext cx="7555013" cy="1809750"/>
            <a:chOff x="0" y="0"/>
            <a:chExt cx="10073351" cy="2413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073269" cy="2413000"/>
            </a:xfrm>
            <a:custGeom>
              <a:avLst/>
              <a:gdLst/>
              <a:ahLst/>
              <a:cxnLst/>
              <a:rect r="r" b="b" t="t" l="l"/>
              <a:pathLst>
                <a:path h="2413000" w="10073269">
                  <a:moveTo>
                    <a:pt x="0" y="402122"/>
                  </a:moveTo>
                  <a:cubicBezTo>
                    <a:pt x="0" y="180109"/>
                    <a:pt x="183195" y="0"/>
                    <a:pt x="409013" y="0"/>
                  </a:cubicBezTo>
                  <a:lnTo>
                    <a:pt x="9664257" y="0"/>
                  </a:lnTo>
                  <a:cubicBezTo>
                    <a:pt x="9890210" y="0"/>
                    <a:pt x="10073269" y="180109"/>
                    <a:pt x="10073269" y="402122"/>
                  </a:cubicBezTo>
                  <a:lnTo>
                    <a:pt x="10073269" y="2010878"/>
                  </a:lnTo>
                  <a:cubicBezTo>
                    <a:pt x="10073269" y="2233026"/>
                    <a:pt x="9890075" y="2413000"/>
                    <a:pt x="9664257" y="2413000"/>
                  </a:cubicBezTo>
                  <a:lnTo>
                    <a:pt x="409013" y="2413000"/>
                  </a:lnTo>
                  <a:cubicBezTo>
                    <a:pt x="183195" y="2413000"/>
                    <a:pt x="0" y="2232891"/>
                    <a:pt x="0" y="2010878"/>
                  </a:cubicBezTo>
                  <a:close/>
                </a:path>
              </a:pathLst>
            </a:custGeom>
            <a:solidFill>
              <a:srgbClr val="041A1D"/>
            </a:solidFill>
            <a:ln w="19050" cap="sq">
              <a:solidFill>
                <a:srgbClr val="F43F5E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0073351" cy="2441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43F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👁️ 4. Kết Thúc Bằng 'Mù Dữ Liệu' Trên UI</a:t>
              </a:r>
            </a:p>
            <a:p>
              <a:pPr algn="l">
                <a:lnSpc>
                  <a:spcPts val="1711"/>
                </a:lnSpc>
              </a:pPr>
              <a:r>
                <a:rPr lang="en-US" sz="1426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Webserver chỉ đọc DB để tô màu ô vuông Xanh/Đỏ. Kỹ sư hoàn toàn không biết bên trong có bao nhiêu tiền, bao nhiêu hóa đơn nếu không mò log.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4795162" y="312095"/>
            <a:ext cx="8876757" cy="427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b="true">
                <a:solidFill>
                  <a:srgbClr val="38BDF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⚙️ AIRFLOW TASK EXECUTION (Chu Trình 6 Bước)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28700" y="1028700"/>
            <a:ext cx="8942209" cy="8846121"/>
            <a:chOff x="0" y="0"/>
            <a:chExt cx="16885455" cy="16704014"/>
          </a:xfrm>
        </p:grpSpPr>
        <p:sp>
          <p:nvSpPr>
            <p:cNvPr name="Freeform 21" id="21" descr="slide5_mermaid.png"/>
            <p:cNvSpPr/>
            <p:nvPr/>
          </p:nvSpPr>
          <p:spPr>
            <a:xfrm flipH="false" flipV="false" rot="0">
              <a:off x="0" y="0"/>
              <a:ext cx="16885427" cy="16704053"/>
            </a:xfrm>
            <a:custGeom>
              <a:avLst/>
              <a:gdLst/>
              <a:ahLst/>
              <a:cxnLst/>
              <a:rect r="r" b="b" t="t" l="l"/>
              <a:pathLst>
                <a:path h="16704053" w="16885427">
                  <a:moveTo>
                    <a:pt x="0" y="0"/>
                  </a:moveTo>
                  <a:lnTo>
                    <a:pt x="16885427" y="0"/>
                  </a:lnTo>
                  <a:lnTo>
                    <a:pt x="16885427" y="16704053"/>
                  </a:lnTo>
                  <a:lnTo>
                    <a:pt x="0" y="167040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5361" t="0" r="-15362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961" cy="13715949"/>
            </a:xfrm>
            <a:custGeom>
              <a:avLst/>
              <a:gdLst/>
              <a:ahLst/>
              <a:cxnLst/>
              <a:rect r="r" b="b" t="t" l="l"/>
              <a:pathLst>
                <a:path h="13715949" w="24383961">
                  <a:moveTo>
                    <a:pt x="0" y="0"/>
                  </a:moveTo>
                  <a:lnTo>
                    <a:pt x="24383961" y="0"/>
                  </a:lnTo>
                  <a:lnTo>
                    <a:pt x="24383961" y="13715949"/>
                  </a:lnTo>
                  <a:lnTo>
                    <a:pt x="0" y="13715949"/>
                  </a:lnTo>
                  <a:close/>
                </a:path>
              </a:pathLst>
            </a:custGeom>
            <a:solidFill>
              <a:srgbClr val="06142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6929" y="309020"/>
            <a:ext cx="3588010" cy="499501"/>
            <a:chOff x="0" y="0"/>
            <a:chExt cx="4784014" cy="6660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83963" cy="665988"/>
            </a:xfrm>
            <a:custGeom>
              <a:avLst/>
              <a:gdLst/>
              <a:ahLst/>
              <a:cxnLst/>
              <a:rect r="r" b="b" t="t" l="l"/>
              <a:pathLst>
                <a:path h="665988" w="4783963">
                  <a:moveTo>
                    <a:pt x="0" y="110998"/>
                  </a:moveTo>
                  <a:cubicBezTo>
                    <a:pt x="0" y="49657"/>
                    <a:pt x="49657" y="0"/>
                    <a:pt x="110998" y="0"/>
                  </a:cubicBezTo>
                  <a:lnTo>
                    <a:pt x="4672965" y="0"/>
                  </a:lnTo>
                  <a:cubicBezTo>
                    <a:pt x="4734306" y="0"/>
                    <a:pt x="4783963" y="49657"/>
                    <a:pt x="4783963" y="110998"/>
                  </a:cubicBezTo>
                  <a:lnTo>
                    <a:pt x="4783963" y="554990"/>
                  </a:lnTo>
                  <a:cubicBezTo>
                    <a:pt x="4783963" y="616331"/>
                    <a:pt x="4734306" y="665988"/>
                    <a:pt x="4672965" y="665988"/>
                  </a:cubicBezTo>
                  <a:lnTo>
                    <a:pt x="110998" y="665988"/>
                  </a:lnTo>
                  <a:cubicBezTo>
                    <a:pt x="49657" y="665988"/>
                    <a:pt x="0" y="616331"/>
                    <a:pt x="0" y="554990"/>
                  </a:cubicBezTo>
                  <a:close/>
                </a:path>
              </a:pathLst>
            </a:custGeom>
            <a:solidFill>
              <a:srgbClr val="08263A"/>
            </a:solidFill>
            <a:ln w="19065" cap="sq">
              <a:solidFill>
                <a:srgbClr val="00D4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4784014" cy="685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1"/>
                </a:lnSpc>
              </a:pPr>
              <a:r>
                <a:rPr lang="en-US" sz="1426" b="true">
                  <a:solidFill>
                    <a:srgbClr val="00E59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DEEP DIVE DAGSTER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818455" y="426759"/>
            <a:ext cx="8876757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b="true">
                <a:solidFill>
                  <a:srgbClr val="00E59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💎 DAGSTER ASSET MATERIALIZATION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621723" y="1280084"/>
            <a:ext cx="7023506" cy="1711262"/>
            <a:chOff x="0" y="0"/>
            <a:chExt cx="9364675" cy="228168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364599" cy="2281682"/>
            </a:xfrm>
            <a:custGeom>
              <a:avLst/>
              <a:gdLst/>
              <a:ahLst/>
              <a:cxnLst/>
              <a:rect r="r" b="b" t="t" l="l"/>
              <a:pathLst>
                <a:path h="2281682" w="9364599">
                  <a:moveTo>
                    <a:pt x="0" y="380238"/>
                  </a:moveTo>
                  <a:cubicBezTo>
                    <a:pt x="0" y="170307"/>
                    <a:pt x="170307" y="0"/>
                    <a:pt x="380238" y="0"/>
                  </a:cubicBezTo>
                  <a:lnTo>
                    <a:pt x="8984361" y="0"/>
                  </a:lnTo>
                  <a:cubicBezTo>
                    <a:pt x="9194419" y="0"/>
                    <a:pt x="9364599" y="170307"/>
                    <a:pt x="9364599" y="380238"/>
                  </a:cubicBezTo>
                  <a:lnTo>
                    <a:pt x="9364599" y="1901444"/>
                  </a:lnTo>
                  <a:cubicBezTo>
                    <a:pt x="9364599" y="2111502"/>
                    <a:pt x="9194292" y="2281682"/>
                    <a:pt x="8984361" y="2281682"/>
                  </a:cubicBezTo>
                  <a:lnTo>
                    <a:pt x="380238" y="2281682"/>
                  </a:lnTo>
                  <a:cubicBezTo>
                    <a:pt x="170307" y="2281682"/>
                    <a:pt x="0" y="2111375"/>
                    <a:pt x="0" y="1901444"/>
                  </a:cubicBezTo>
                  <a:close/>
                </a:path>
              </a:pathLst>
            </a:custGeom>
            <a:solidFill>
              <a:srgbClr val="041A1D"/>
            </a:solidFill>
            <a:ln w="19050" cap="sq">
              <a:solidFill>
                <a:srgbClr val="38BDF8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9364675" cy="2310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38BD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🛡️ 1. Khám Phá Metadata Qua gRPC (Zero Load)</a:t>
              </a:r>
            </a:p>
            <a:p>
              <a:pPr algn="l">
                <a:lnSpc>
                  <a:spcPts val="1711"/>
                </a:lnSpc>
              </a:pPr>
              <a:r>
                <a:rPr lang="en-US" sz="1426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Code người dùng chạy trong tiến trình riêng. Nền tảng chỉ dùng gRPC để hỏi schema và lineage, hoàn toàn không nạp code Python của user vào Scheduler.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621723" y="3432239"/>
            <a:ext cx="7023506" cy="1711262"/>
            <a:chOff x="0" y="0"/>
            <a:chExt cx="9364675" cy="22816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364599" cy="2281682"/>
            </a:xfrm>
            <a:custGeom>
              <a:avLst/>
              <a:gdLst/>
              <a:ahLst/>
              <a:cxnLst/>
              <a:rect r="r" b="b" t="t" l="l"/>
              <a:pathLst>
                <a:path h="2281682" w="9364599">
                  <a:moveTo>
                    <a:pt x="0" y="380238"/>
                  </a:moveTo>
                  <a:cubicBezTo>
                    <a:pt x="0" y="170307"/>
                    <a:pt x="170307" y="0"/>
                    <a:pt x="380238" y="0"/>
                  </a:cubicBezTo>
                  <a:lnTo>
                    <a:pt x="8984361" y="0"/>
                  </a:lnTo>
                  <a:cubicBezTo>
                    <a:pt x="9194419" y="0"/>
                    <a:pt x="9364599" y="170307"/>
                    <a:pt x="9364599" y="380238"/>
                  </a:cubicBezTo>
                  <a:lnTo>
                    <a:pt x="9364599" y="1901444"/>
                  </a:lnTo>
                  <a:cubicBezTo>
                    <a:pt x="9364599" y="2111502"/>
                    <a:pt x="9194292" y="2281682"/>
                    <a:pt x="8984361" y="2281682"/>
                  </a:cubicBezTo>
                  <a:lnTo>
                    <a:pt x="380238" y="2281682"/>
                  </a:lnTo>
                  <a:cubicBezTo>
                    <a:pt x="170307" y="2281682"/>
                    <a:pt x="0" y="2111375"/>
                    <a:pt x="0" y="1901444"/>
                  </a:cubicBezTo>
                  <a:close/>
                </a:path>
              </a:pathLst>
            </a:custGeom>
            <a:solidFill>
              <a:srgbClr val="041A1D"/>
            </a:solidFill>
            <a:ln w="19050" cap="sq">
              <a:solidFill>
                <a:srgbClr val="00D4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9364675" cy="2310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00E5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🚀 2. Chạy Trong Worker Độc Lập (Ephemeral)</a:t>
              </a:r>
            </a:p>
            <a:p>
              <a:pPr algn="l">
                <a:lnSpc>
                  <a:spcPts val="1711"/>
                </a:lnSpc>
              </a:pPr>
              <a:r>
                <a:rPr lang="en-US" sz="1426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Mỗi lần chạy bật một container/pod độc lập thực thi hàm Asset thuần khiết. Code có crash hay OOM thì Daemon và Webserver vẫn an toàn 100%.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621723" y="5466736"/>
            <a:ext cx="7023506" cy="1711262"/>
            <a:chOff x="0" y="0"/>
            <a:chExt cx="9364675" cy="228168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364599" cy="2281682"/>
            </a:xfrm>
            <a:custGeom>
              <a:avLst/>
              <a:gdLst/>
              <a:ahLst/>
              <a:cxnLst/>
              <a:rect r="r" b="b" t="t" l="l"/>
              <a:pathLst>
                <a:path h="2281682" w="9364599">
                  <a:moveTo>
                    <a:pt x="0" y="380238"/>
                  </a:moveTo>
                  <a:cubicBezTo>
                    <a:pt x="0" y="170307"/>
                    <a:pt x="170307" y="0"/>
                    <a:pt x="380238" y="0"/>
                  </a:cubicBezTo>
                  <a:lnTo>
                    <a:pt x="8984361" y="0"/>
                  </a:lnTo>
                  <a:cubicBezTo>
                    <a:pt x="9194419" y="0"/>
                    <a:pt x="9364599" y="170307"/>
                    <a:pt x="9364599" y="380238"/>
                  </a:cubicBezTo>
                  <a:lnTo>
                    <a:pt x="9364599" y="1901444"/>
                  </a:lnTo>
                  <a:cubicBezTo>
                    <a:pt x="9364599" y="2111502"/>
                    <a:pt x="9194292" y="2281682"/>
                    <a:pt x="8984361" y="2281682"/>
                  </a:cubicBezTo>
                  <a:lnTo>
                    <a:pt x="380238" y="2281682"/>
                  </a:lnTo>
                  <a:cubicBezTo>
                    <a:pt x="170307" y="2281682"/>
                    <a:pt x="0" y="2111375"/>
                    <a:pt x="0" y="1901444"/>
                  </a:cubicBezTo>
                  <a:close/>
                </a:path>
              </a:pathLst>
            </a:custGeom>
            <a:solidFill>
              <a:srgbClr val="041A1D"/>
            </a:solidFill>
            <a:ln w="19050" cap="sq">
              <a:solidFill>
                <a:srgbClr val="22C55E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9364675" cy="2310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💾 3. I/O Manager Độc Lập &amp; Không Đụng DB</a:t>
              </a:r>
            </a:p>
            <a:p>
              <a:pPr algn="l">
                <a:lnSpc>
                  <a:spcPts val="1711"/>
                </a:lnSpc>
              </a:pPr>
              <a:r>
                <a:rPr lang="en-US" sz="1426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Dữ liệu trả về được I/O Manager tự động đẩy thẳng lên S3/MinIO hoặc Snowflake. Database hệ thống chỉ lưu nhật ký sự kiện, không lo phình bộ nhớ.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621723" y="7711397"/>
            <a:ext cx="7023506" cy="1840592"/>
            <a:chOff x="0" y="0"/>
            <a:chExt cx="9364675" cy="245412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364599" cy="2454123"/>
            </a:xfrm>
            <a:custGeom>
              <a:avLst/>
              <a:gdLst/>
              <a:ahLst/>
              <a:cxnLst/>
              <a:rect r="r" b="b" t="t" l="l"/>
              <a:pathLst>
                <a:path h="2454123" w="9364599">
                  <a:moveTo>
                    <a:pt x="0" y="408975"/>
                  </a:moveTo>
                  <a:cubicBezTo>
                    <a:pt x="0" y="183178"/>
                    <a:pt x="170307" y="0"/>
                    <a:pt x="380238" y="0"/>
                  </a:cubicBezTo>
                  <a:lnTo>
                    <a:pt x="8984361" y="0"/>
                  </a:lnTo>
                  <a:cubicBezTo>
                    <a:pt x="9194419" y="0"/>
                    <a:pt x="9364599" y="183178"/>
                    <a:pt x="9364599" y="408975"/>
                  </a:cubicBezTo>
                  <a:lnTo>
                    <a:pt x="9364599" y="2045148"/>
                  </a:lnTo>
                  <a:cubicBezTo>
                    <a:pt x="9364599" y="2271081"/>
                    <a:pt x="9194292" y="2454123"/>
                    <a:pt x="8984361" y="2454123"/>
                  </a:cubicBezTo>
                  <a:lnTo>
                    <a:pt x="380238" y="2454123"/>
                  </a:lnTo>
                  <a:cubicBezTo>
                    <a:pt x="170307" y="2454123"/>
                    <a:pt x="0" y="2270945"/>
                    <a:pt x="0" y="2045148"/>
                  </a:cubicBezTo>
                  <a:close/>
                </a:path>
              </a:pathLst>
            </a:custGeom>
            <a:solidFill>
              <a:srgbClr val="041A1D"/>
            </a:solidFill>
            <a:ln w="19050" cap="sq">
              <a:solidFill>
                <a:srgbClr val="38BDF8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9364675" cy="2482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38BD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🛡️ 4. Asset Checks Đánh Chặn &amp; Báo Cáo Trên UI</a:t>
              </a:r>
            </a:p>
            <a:p>
              <a:pPr algn="l">
                <a:lnSpc>
                  <a:spcPts val="1711"/>
                </a:lnSpc>
              </a:pPr>
              <a:r>
                <a:rPr lang="en-US" sz="1426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Kiểm định chất lượng dữ liệu được gắn trực tiếp vào Asset. Nếu vi phạm trần 100M sẽ chặn downstream ngay và cảnh báo trên giao diện.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96929" y="1280084"/>
            <a:ext cx="9308769" cy="8373304"/>
            <a:chOff x="0" y="0"/>
            <a:chExt cx="12411692" cy="11164405"/>
          </a:xfrm>
        </p:grpSpPr>
        <p:sp>
          <p:nvSpPr>
            <p:cNvPr name="Freeform 21" id="21" descr="slide6_mermaid.png"/>
            <p:cNvSpPr/>
            <p:nvPr/>
          </p:nvSpPr>
          <p:spPr>
            <a:xfrm flipH="false" flipV="false" rot="0">
              <a:off x="0" y="0"/>
              <a:ext cx="12411671" cy="11164443"/>
            </a:xfrm>
            <a:custGeom>
              <a:avLst/>
              <a:gdLst/>
              <a:ahLst/>
              <a:cxnLst/>
              <a:rect r="r" b="b" t="t" l="l"/>
              <a:pathLst>
                <a:path h="11164443" w="12411671">
                  <a:moveTo>
                    <a:pt x="0" y="0"/>
                  </a:moveTo>
                  <a:lnTo>
                    <a:pt x="12411671" y="0"/>
                  </a:lnTo>
                  <a:lnTo>
                    <a:pt x="12411671" y="11164443"/>
                  </a:lnTo>
                  <a:lnTo>
                    <a:pt x="0" y="111644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432" t="0" r="-9432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6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3" name="Rounded Rectangle 2"/>
          <p:cNvSpPr/>
          <p:nvPr/>
        </p:nvSpPr>
        <p:spPr>
          <a:xfrm>
            <a:off x="896112" y="347472"/>
            <a:ext cx="3291840" cy="438912"/>
          </a:xfrm>
          <a:prstGeom prst="roundRect">
            <a:avLst>
              <a:gd name="adj" fmla="val 50000"/>
            </a:avLst>
          </a:prstGeom>
          <a:solidFill>
            <a:srgbClr val="08263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50" b="1">
                <a:solidFill>
                  <a:srgbClr val="00D4FF"/>
                </a:solidFill>
                <a:latin typeface="Arial"/>
              </a:defRPr>
            </a:pPr>
            <a:r>
              <a:rPr>
                <a:solidFill>
                  <a:srgbClr val="00D4FF"/>
                </a:solidFill>
              </a:rPr>
              <a:t>TRIỂN KHAI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62272" y="292608"/>
            <a:ext cx="12984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F8FAFC"/>
                </a:solidFill>
              </a:rPr>
              <a:t>HẠ TẦNG ON-PREMISE &amp; ĐỊNH VỊ NỀN TẢNG</a:t>
            </a:r>
          </a:p>
          <a:p>
            <a:pPr>
              <a:spcBef>
                <a:spcPts val="400"/>
              </a:spcBef>
              <a:defRPr sz="1300">
                <a:solidFill>
                  <a:srgbClr val="00D4FF"/>
                </a:solidFill>
                <a:latin typeface="Arial"/>
              </a:defRPr>
            </a:pPr>
            <a:r>
              <a:rPr>
                <a:solidFill>
                  <a:srgbClr val="00D4FF"/>
                </a:solidFill>
              </a:rPr>
              <a:t>Kiến trúc cụm On-Premise, năng lực kiểm thử CI/CD và định vị lựa chọn công nghệ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" y="1051560"/>
            <a:ext cx="8083296" cy="4297680"/>
          </a:xfrm>
          <a:prstGeom prst="roundRect">
            <a:avLst>
              <a:gd name="adj" fmla="val 5000"/>
            </a:avLst>
          </a:prstGeom>
          <a:solidFill>
            <a:srgbClr val="0826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70432" y="1216152"/>
            <a:ext cx="5486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1">
                <a:solidFill>
                  <a:srgbClr val="00D4FF"/>
                </a:solidFill>
                <a:latin typeface="Arial"/>
              </a:defRPr>
            </a:pPr>
            <a:r>
              <a:rPr>
                <a:solidFill>
                  <a:srgbClr val="00D4FF"/>
                </a:solidFill>
              </a:rPr>
              <a:t>🏗️ KIẾN TRÚC HẠ TẦNG ON-PREMISE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33488" y="121615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41A1D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00D4FF"/>
                </a:solidFill>
                <a:latin typeface="Arial"/>
              </a:defRPr>
            </a:pPr>
            <a:r>
              <a:rPr>
                <a:solidFill>
                  <a:srgbClr val="00D4FF"/>
                </a:solidFill>
              </a:rPr>
              <a:t>Ops Overhead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52144" y="1645920"/>
            <a:ext cx="7571232" cy="1691640"/>
          </a:xfrm>
          <a:prstGeom prst="roundRect">
            <a:avLst>
              <a:gd name="adj" fmla="val 4000"/>
            </a:avLst>
          </a:prstGeom>
          <a:solidFill>
            <a:srgbClr val="041A1D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335024" y="1755648"/>
            <a:ext cx="7205472" cy="1472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Arial"/>
              </a:defRPr>
            </a:pPr>
            <a:r>
              <a:rPr>
                <a:solidFill>
                  <a:srgbClr val="F43F5E"/>
                </a:solidFill>
              </a:rPr>
              <a:t>🔴 AIRFLOW (6 THÀNH PHẦN RỜI RẠC)</a:t>
            </a:r>
            <a:r>
              <a:rPr b="0" sz="950">
                <a:solidFill>
                  <a:srgbClr val="FCA5A5"/>
                </a:solidFill>
              </a:rPr>
              <a:t>   — Cồng kềnh &amp; Dễ nghẽn</a:t>
            </a:r>
          </a:p>
          <a:p>
            <a:pPr>
              <a:spcBef>
                <a:spcPts val="300"/>
              </a:spcBef>
              <a:defRPr sz="95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F8FAFC"/>
                </a:solidFill>
              </a:rPr>
              <a:t>• Stack phức tạp: </a:t>
            </a:r>
            <a:r>
              <a:rPr b="0">
                <a:solidFill>
                  <a:srgbClr val="94A3B8"/>
                </a:solidFill>
              </a:rPr>
              <a:t>Scheduler + Celery Worker Pool + Redis Queue + Postgres HA + Webserver + Triggerer.</a:t>
            </a:r>
          </a:p>
          <a:p>
            <a:pPr>
              <a:spcBef>
                <a:spcPts val="300"/>
              </a:spcBef>
              <a:defRPr sz="95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F8FAFC"/>
                </a:solidFill>
              </a:rPr>
              <a:t>• Nỗi đau đĩa chia sẻ: </a:t>
            </a:r>
            <a:r>
              <a:rPr b="0">
                <a:solidFill>
                  <a:srgbClr val="94A3B8"/>
                </a:solidFill>
              </a:rPr>
              <a:t>Bắt buộc dựng NFS/EFS chia sẻ để đồng bộ file dags/ giữa các node, nguy cơ nghẽn IOPS.</a:t>
            </a:r>
          </a:p>
          <a:p>
            <a:pPr>
              <a:spcBef>
                <a:spcPts val="300"/>
              </a:spcBef>
              <a:defRPr sz="95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F8FAFC"/>
                </a:solidFill>
              </a:rPr>
              <a:t>• Xung đột package: </a:t>
            </a:r>
            <a:r>
              <a:rPr b="0">
                <a:solidFill>
                  <a:srgbClr val="94A3B8"/>
                </a:solidFill>
              </a:rPr>
              <a:t>Toàn bộ task chung Python env; 1 team upgrade pandas làm gãy pipeline team khác.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52144" y="3474720"/>
            <a:ext cx="7571232" cy="1691640"/>
          </a:xfrm>
          <a:prstGeom prst="roundRect">
            <a:avLst>
              <a:gd name="adj" fmla="val 4000"/>
            </a:avLst>
          </a:prstGeom>
          <a:solidFill>
            <a:srgbClr val="041A1D"/>
          </a:solidFill>
          <a:ln w="1270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335024" y="3584448"/>
            <a:ext cx="7205472" cy="1472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E599"/>
                </a:solidFill>
                <a:latin typeface="Arial"/>
              </a:defRPr>
            </a:pPr>
            <a:r>
              <a:rPr>
                <a:solidFill>
                  <a:srgbClr val="00E599"/>
                </a:solidFill>
              </a:rPr>
              <a:t>🟢 DAGSTER (CHUẨN KUBERNETES &amp; CLOUD-NATIVE)</a:t>
            </a:r>
            <a:r>
              <a:rPr b="0" sz="950">
                <a:solidFill>
                  <a:srgbClr val="86EFAC"/>
                </a:solidFill>
              </a:rPr>
              <a:t>   — Tinh gọn &amp; Độc lập</a:t>
            </a:r>
          </a:p>
          <a:p>
            <a:pPr>
              <a:spcBef>
                <a:spcPts val="300"/>
              </a:spcBef>
              <a:defRPr sz="95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F8FAFC"/>
                </a:solidFill>
              </a:rPr>
              <a:t>• Stack tinh gọn 3 dịch vụ: </a:t>
            </a:r>
            <a:r>
              <a:rPr b="0">
                <a:solidFill>
                  <a:srgbClr val="94A3B8"/>
                </a:solidFill>
              </a:rPr>
              <a:t>Chỉ cần Dagster Webserver + Daemon + PostgreSQL HA (chỉ lưu event metadata nhẹ).</a:t>
            </a:r>
          </a:p>
          <a:p>
            <a:pPr>
              <a:spcBef>
                <a:spcPts val="300"/>
              </a:spcBef>
              <a:defRPr sz="95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F8FAFC"/>
                </a:solidFill>
              </a:rPr>
              <a:t>• Lưu trữ đối tượng MinIO: </a:t>
            </a:r>
            <a:r>
              <a:rPr b="0">
                <a:solidFill>
                  <a:srgbClr val="94A3B8"/>
                </a:solidFill>
              </a:rPr>
              <a:t>Cụm MinIO phân tán làm S3 nội bộ, I/O Manager tự động đẩy/kéo dữ liệu.</a:t>
            </a:r>
          </a:p>
          <a:p>
            <a:pPr>
              <a:spcBef>
                <a:spcPts val="300"/>
              </a:spcBef>
              <a:defRPr sz="95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F8FAFC"/>
                </a:solidFill>
              </a:rPr>
              <a:t>• Code Location Pods: </a:t>
            </a:r>
            <a:r>
              <a:rPr b="0">
                <a:solidFill>
                  <a:srgbClr val="94A3B8"/>
                </a:solidFill>
              </a:rPr>
              <a:t>Đóng gói Docker riêng, gọi gRPC. Tự do dùng Python 3.10/3.11/3.12 cách 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08592" y="1051560"/>
            <a:ext cx="8083296" cy="4297680"/>
          </a:xfrm>
          <a:prstGeom prst="roundRect">
            <a:avLst>
              <a:gd name="adj" fmla="val 5000"/>
            </a:avLst>
          </a:prstGeom>
          <a:solidFill>
            <a:srgbClr val="08263A"/>
          </a:solidFill>
          <a:ln w="1905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9582912" y="1216152"/>
            <a:ext cx="5486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1">
                <a:solidFill>
                  <a:srgbClr val="00E599"/>
                </a:solidFill>
                <a:latin typeface="Arial"/>
              </a:defRPr>
            </a:pPr>
            <a:r>
              <a:rPr>
                <a:solidFill>
                  <a:srgbClr val="00E599"/>
                </a:solidFill>
              </a:rPr>
              <a:t>🧪 NĂNG LỰC KIỂM THỬ CI/CD &amp; DEVX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563088" y="1216152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041A1D"/>
          </a:solidFill>
          <a:ln w="1270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00E599"/>
                </a:solidFill>
                <a:latin typeface="Arial"/>
              </a:defRPr>
            </a:pPr>
            <a:r>
              <a:rPr>
                <a:solidFill>
                  <a:srgbClr val="00E599"/>
                </a:solidFill>
              </a:rPr>
              <a:t>Pytest In-Memory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64624" y="1645920"/>
            <a:ext cx="7571232" cy="1371600"/>
          </a:xfrm>
          <a:prstGeom prst="roundRect">
            <a:avLst>
              <a:gd name="adj" fmla="val 4000"/>
            </a:avLst>
          </a:prstGeom>
          <a:solidFill>
            <a:srgbClr val="041A1D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9747504" y="1755648"/>
            <a:ext cx="7205472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rPr>
                <a:solidFill>
                  <a:srgbClr val="F59E0B"/>
                </a:solidFill>
              </a:rPr>
              <a:t>⚠️ Airflow: Rào Cản Lớn Khi Viết Unit Test &amp; CI/CD</a:t>
            </a:r>
          </a:p>
          <a:p>
            <a:pPr>
              <a:spcBef>
                <a:spcPts val="300"/>
              </a:spcBef>
              <a:defRPr sz="95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F8FAFC"/>
                </a:solidFill>
              </a:rPr>
              <a:t>• Phụ thuộc Context &amp; DB: </a:t>
            </a:r>
            <a:r>
              <a:rPr b="0">
                <a:solidFill>
                  <a:srgbClr val="94A3B8"/>
                </a:solidFill>
              </a:rPr>
              <a:t>Task gắn chặt với ti, context, dag_run → Rất khó mock dữ liệu cục bộ.</a:t>
            </a:r>
          </a:p>
          <a:p>
            <a:pPr>
              <a:spcBef>
                <a:spcPts val="300"/>
              </a:spcBef>
              <a:defRPr sz="95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F8FAFC"/>
                </a:solidFill>
              </a:rPr>
              <a:t>• Chu kỳ phản hồi chậm (3-5 phút): </a:t>
            </a:r>
            <a:r>
              <a:rPr b="0">
                <a:solidFill>
                  <a:srgbClr val="94A3B8"/>
                </a:solidFill>
              </a:rPr>
              <a:t>Muốn test phải dựng Docker Compose &amp; migrate Postgres → Không thể tích hợp Git Hook.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64624" y="3154680"/>
            <a:ext cx="7571232" cy="2011680"/>
          </a:xfrm>
          <a:prstGeom prst="roundRect">
            <a:avLst>
              <a:gd name="adj" fmla="val 4000"/>
            </a:avLst>
          </a:prstGeom>
          <a:solidFill>
            <a:srgbClr val="041A1D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9747504" y="3246120"/>
            <a:ext cx="720547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00D4FF"/>
                </a:solidFill>
                <a:latin typeface="Arial"/>
              </a:defRPr>
            </a:pPr>
            <a:r>
              <a:rPr>
                <a:solidFill>
                  <a:srgbClr val="00D4FF"/>
                </a:solidFill>
              </a:rPr>
              <a:t>💎 Dagster: Unit Test Trong RAM 0.12s (4/4 Tests)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764256" y="3227832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041A1D"/>
          </a:solidFill>
          <a:ln w="1270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00" b="1">
                <a:solidFill>
                  <a:srgbClr val="00E599"/>
                </a:solidFill>
                <a:latin typeface="Arial"/>
              </a:defRPr>
            </a:pPr>
            <a:r>
              <a:rPr>
                <a:solidFill>
                  <a:srgbClr val="00E599"/>
                </a:solidFill>
              </a:rPr>
              <a:t>pytest passed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47504" y="3566160"/>
            <a:ext cx="7205472" cy="1051560"/>
          </a:xfrm>
          <a:prstGeom prst="roundRect">
            <a:avLst>
              <a:gd name="adj" fmla="val 3000"/>
            </a:avLst>
          </a:prstGeom>
          <a:solidFill>
            <a:srgbClr val="020B14"/>
          </a:solidFill>
          <a:ln w="12700">
            <a:solidFill>
              <a:srgbClr val="19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9884664" y="3657600"/>
            <a:ext cx="6931152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/>
                <a:latin typeface="Consolas"/>
              </a:defRPr>
            </a:pPr>
            <a:r>
              <a:rPr b="1">
                <a:solidFill>
                  <a:srgbClr val="00D4FF"/>
                </a:solidFill>
              </a:rPr>
              <a:t>def </a:t>
            </a:r>
            <a:r>
              <a:rPr>
                <a:solidFill>
                  <a:srgbClr val="38BDF8"/>
                </a:solidFill>
              </a:rPr>
              <a:t>test_budget_limit_blocks_over_budget():
</a:t>
            </a:r>
          </a:p>
          <a:p>
            <a:pPr>
              <a:spcBef>
                <a:spcPts val="200"/>
              </a:spcBef>
              <a:defRPr sz="900">
                <a:solidFill/>
                <a:latin typeface="Consolas"/>
              </a:defRPr>
            </a:pPr>
            <a:r>
              <a:rPr>
                <a:solidFill>
                  <a:srgbClr val="F8FAFC"/>
                </a:solidFill>
              </a:rPr>
              <a:t>  res = check_budget_limit_compliance(mock_120m_invoices)
</a:t>
            </a:r>
          </a:p>
          <a:p>
            <a:pPr>
              <a:spcBef>
                <a:spcPts val="200"/>
              </a:spcBef>
              <a:defRPr sz="900">
                <a:solidFill/>
                <a:latin typeface="Consolas"/>
              </a:defRPr>
            </a:pPr>
            <a:r>
              <a:rPr b="1">
                <a:solidFill>
                  <a:srgbClr val="F43F5E"/>
                </a:solidFill>
              </a:rPr>
              <a:t>  assert not </a:t>
            </a:r>
            <a:r>
              <a:rPr>
                <a:solidFill>
                  <a:srgbClr val="F8FAFC"/>
                </a:solidFill>
              </a:rPr>
              <a:t>res.passed  </a:t>
            </a:r>
            <a:r>
              <a:rPr>
                <a:solidFill>
                  <a:srgbClr val="64748B"/>
                </a:solidFill>
              </a:rPr>
              <a:t># Ngắt luồng trong 0.02s!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47504" y="4672584"/>
            <a:ext cx="7205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rPr>
                <a:solidFill>
                  <a:srgbClr val="94A3B8"/>
                </a:solidFill>
              </a:rPr>
              <a:t>✨ Tự động kích hoạt kiểm thử trong GitLab CI / GitHub Actions trên từng PR trước khi merge.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" y="5532120"/>
            <a:ext cx="16495776" cy="4389120"/>
          </a:xfrm>
          <a:prstGeom prst="roundRect">
            <a:avLst>
              <a:gd name="adj" fmla="val 5000"/>
            </a:avLst>
          </a:prstGeom>
          <a:solidFill>
            <a:srgbClr val="0826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216152" y="5696712"/>
            <a:ext cx="9144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1">
                <a:solidFill>
                  <a:srgbClr val="00D4FF"/>
                </a:solidFill>
                <a:latin typeface="Arial"/>
              </a:defRPr>
            </a:pPr>
            <a:r>
              <a:rPr>
                <a:solidFill>
                  <a:srgbClr val="00D4FF"/>
                </a:solidFill>
              </a:rPr>
              <a:t>🎯 KHI NÀO NÊN CHỌN AIRFLOW HAY DAGSTER?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288768" y="569671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041A1D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00D4FF"/>
                </a:solidFill>
                <a:latin typeface="Arial"/>
              </a:defRPr>
            </a:pPr>
            <a:r>
              <a:rPr>
                <a:solidFill>
                  <a:srgbClr val="00D4FF"/>
                </a:solidFill>
              </a:rPr>
              <a:t>ĐỊNH VỊ NỀN TẢNG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34856" y="6126480"/>
            <a:ext cx="12700" cy="3566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1216152" y="6126480"/>
            <a:ext cx="7680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50" b="1">
                <a:solidFill>
                  <a:srgbClr val="00D4FF"/>
                </a:solidFill>
                <a:latin typeface="Arial"/>
              </a:defRPr>
            </a:pPr>
            <a:r>
              <a:rPr>
                <a:solidFill>
                  <a:srgbClr val="00D4FF"/>
                </a:solidFill>
              </a:rPr>
              <a:t>⚙️ KHI NÀO NÊN CHỌN APACHE AIRFLOW?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88352" y="6126480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041A1D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50" b="1">
                <a:solidFill>
                  <a:srgbClr val="00D4FF"/>
                </a:solidFill>
                <a:latin typeface="Arial"/>
              </a:defRPr>
            </a:pPr>
            <a:r>
              <a:rPr>
                <a:solidFill>
                  <a:srgbClr val="00D4FF"/>
                </a:solidFill>
              </a:rPr>
              <a:t>Hạ Tầng Sẵn Có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6492240"/>
            <a:ext cx="768096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F8FAFC"/>
                </a:solidFill>
              </a:rPr>
              <a:t>• Điều phối hạ tầng chung (Infra Orchestration): </a:t>
            </a:r>
            <a:r>
              <a:rPr b="0">
                <a:solidFill>
                  <a:srgbClr val="94A3B8"/>
                </a:solidFill>
              </a:rPr>
              <a:t>Bật/tắt máy ảo, trigger job dbt snapshot, gửi email cảnh báo, dọn log hệ thống định kỳ.</a:t>
            </a:r>
          </a:p>
          <a:p>
            <a:pPr>
              <a:spcBef>
                <a:spcPts val="400"/>
              </a:spcBef>
              <a:defRPr sz="95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F8FAFC"/>
                </a:solidFill>
              </a:rPr>
              <a:t>• Tác vụ độc lập, thô (Coarse-grained Batch): </a:t>
            </a:r>
            <a:r>
              <a:rPr b="0">
                <a:solidFill>
                  <a:srgbClr val="94A3B8"/>
                </a:solidFill>
              </a:rPr>
              <a:t>Kích hoạt các job Spark, Trino, Flink chạy độc lập, không cần trao đổi dữ liệu phức tạp.</a:t>
            </a:r>
          </a:p>
          <a:p>
            <a:pPr>
              <a:spcBef>
                <a:spcPts val="400"/>
              </a:spcBef>
              <a:defRPr sz="95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F8FAFC"/>
                </a:solidFill>
              </a:rPr>
              <a:t>• Đã có sẵn cụm On-Premise ổn định: </a:t>
            </a:r>
            <a:r>
              <a:rPr b="0">
                <a:solidFill>
                  <a:srgbClr val="94A3B8"/>
                </a:solidFill>
              </a:rPr>
              <a:t>Doanh nghiệp đã đầu tư hạ tầng VM/Celery với đội ngũ Ops quen vận hành 6 thành phần và NFS.</a:t>
            </a:r>
          </a:p>
          <a:p>
            <a:pPr>
              <a:spcBef>
                <a:spcPts val="400"/>
              </a:spcBef>
              <a:defRPr sz="95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F8FAFC"/>
                </a:solidFill>
              </a:rPr>
              <a:t>• Kiểm thử mô hình truyền thống: </a:t>
            </a:r>
            <a:r>
              <a:rPr b="0">
                <a:solidFill>
                  <a:srgbClr val="94A3B8"/>
                </a:solidFill>
              </a:rPr>
              <a:t>Chấp nhận việc test gắn chặt với Database (dựng Docker Compose mất 3-5 phút/lần test).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16152" y="8823960"/>
            <a:ext cx="7680960" cy="777240"/>
          </a:xfrm>
          <a:prstGeom prst="roundRect">
            <a:avLst>
              <a:gd name="adj" fmla="val 4000"/>
            </a:avLst>
          </a:prstGeom>
          <a:solidFill>
            <a:srgbClr val="041A1D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380744" y="8933688"/>
            <a:ext cx="735177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0D4FF"/>
                </a:solidFill>
                <a:latin typeface="Arial"/>
              </a:defRPr>
            </a:pPr>
            <a:r>
              <a:rPr>
                <a:solidFill>
                  <a:srgbClr val="00D4FF"/>
                </a:solidFill>
              </a:rPr>
              <a:t>📌 Tóm lại: </a:t>
            </a:r>
            <a:r>
              <a:rPr b="0">
                <a:solidFill>
                  <a:srgbClr val="F8FAFC"/>
                </a:solidFill>
              </a:rPr>
              <a:t>Phù hợp cho hạ tầng có sẵn, điều phối máy ảo và các luồng xử lý mẻ truyền thống (Cronjob).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90888" y="6126480"/>
            <a:ext cx="7680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50" b="1">
                <a:solidFill>
                  <a:srgbClr val="00E599"/>
                </a:solidFill>
                <a:latin typeface="Arial"/>
              </a:defRPr>
            </a:pPr>
            <a:r>
              <a:rPr>
                <a:solidFill>
                  <a:srgbClr val="00E599"/>
                </a:solidFill>
              </a:rPr>
              <a:t>💎 KHI NÀO NÊN CHỌN DAGSTER?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5563088" y="6126480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041A1D"/>
          </a:solidFill>
          <a:ln w="1270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50" b="1">
                <a:solidFill>
                  <a:srgbClr val="00E599"/>
                </a:solidFill>
                <a:latin typeface="Arial"/>
              </a:defRPr>
            </a:pPr>
            <a:r>
              <a:rPr>
                <a:solidFill>
                  <a:srgbClr val="00E599"/>
                </a:solidFill>
              </a:rPr>
              <a:t>ĐỀ XUẤT SỐ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90888" y="6492240"/>
            <a:ext cx="768096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F8FAFC"/>
                </a:solidFill>
              </a:rPr>
              <a:t>• Thay thế AWS Step Functions On-Premise: </a:t>
            </a:r>
            <a:r>
              <a:rPr b="0">
                <a:solidFill>
                  <a:srgbClr val="94A3B8"/>
                </a:solidFill>
              </a:rPr>
              <a:t>Pipeline phân nhánh nghiệp vụ phức tạp, xử lý hồ sơ, OCR và đối soát theo State Machine.</a:t>
            </a:r>
          </a:p>
          <a:p>
            <a:pPr>
              <a:spcBef>
                <a:spcPts val="400"/>
              </a:spcBef>
              <a:defRPr sz="95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F8FAFC"/>
                </a:solidFill>
              </a:rPr>
              <a:t>• Hạ tầng Cloud-Native K8s tinh gọn: </a:t>
            </a:r>
            <a:r>
              <a:rPr b="0">
                <a:solidFill>
                  <a:srgbClr val="94A3B8"/>
                </a:solidFill>
              </a:rPr>
              <a:t>Chỉ 3 service cốt lõi (Webserver, Daemon, Postgres nhẹ). Lưu trữ MinIO S3 nội bộ. Cô lập Pods qua gRPC.</a:t>
            </a:r>
          </a:p>
          <a:p>
            <a:pPr>
              <a:spcBef>
                <a:spcPts val="400"/>
              </a:spcBef>
              <a:defRPr sz="95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F8FAFC"/>
                </a:solidFill>
              </a:rPr>
              <a:t>• Kiểm thử tự động CI/CD 0.12s: </a:t>
            </a:r>
            <a:r>
              <a:rPr b="0">
                <a:solidFill>
                  <a:srgbClr val="94A3B8"/>
                </a:solidFill>
              </a:rPr>
              <a:t>Viết unit test in-memory bằng pytest trong RAM, tích hợp mượt mà GitLab CI / GitHub Actions tự động kiểm thử.</a:t>
            </a:r>
          </a:p>
          <a:p>
            <a:pPr>
              <a:spcBef>
                <a:spcPts val="400"/>
              </a:spcBef>
              <a:defRPr sz="95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F8FAFC"/>
                </a:solidFill>
              </a:rPr>
              <a:t>• Bảo vệ chất lượng dữ liệu: </a:t>
            </a:r>
            <a:r>
              <a:rPr b="0">
                <a:solidFill>
                  <a:srgbClr val="94A3B8"/>
                </a:solidFill>
              </a:rPr>
              <a:t>Tích hợp sẵn Asset Checks (blocking=True) chặn đứng hóa đơn vượt ngân sách 100M ngay trong chu trình chạy.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90888" y="8823960"/>
            <a:ext cx="7680960" cy="777240"/>
          </a:xfrm>
          <a:prstGeom prst="roundRect">
            <a:avLst>
              <a:gd name="adj" fmla="val 4000"/>
            </a:avLst>
          </a:prstGeom>
          <a:solidFill>
            <a:srgbClr val="041A1D"/>
          </a:solidFill>
          <a:ln w="1270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9555480" y="8933688"/>
            <a:ext cx="735177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0E599"/>
                </a:solidFill>
                <a:latin typeface="Arial"/>
              </a:defRPr>
            </a:pPr>
            <a:r>
              <a:rPr>
                <a:solidFill>
                  <a:srgbClr val="00E599"/>
                </a:solidFill>
              </a:rPr>
              <a:t>🚀 Tóm lại: </a:t>
            </a:r>
            <a:r>
              <a:rPr b="0">
                <a:solidFill>
                  <a:srgbClr val="F8FAFC"/>
                </a:solidFill>
              </a:rPr>
              <a:t>Nền tảng toàn diện nhất để thay thế AWS Step Functions trên On-Premise, chuẩn hóa văn hóa kỹ nghệ phần mềm cho đội Data!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DAHV2mu95Q4</dc:identifier>
  <dcterms:modified xsi:type="dcterms:W3CDTF">2011-08-01T06:04:30Z</dcterms:modified>
  <cp:revision>1</cp:revision>
  <dc:title>Airflow_vs_Dagster_Thuyet_Trinh.pptx</dc:title>
</cp:coreProperties>
</file>