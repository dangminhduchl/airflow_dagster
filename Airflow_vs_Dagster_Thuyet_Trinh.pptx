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bìa: Giới thiệu chuyên đề so sánh Airflow vs Dagster trên bài toán bóc tách PDF thực chiến. Giải thích lý do chọn chủ đề và mục tiêu chuyển dịch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Nêu rõ bối cảnh các dự án trước đây dùng AWS Step Functions. Đặt câu hỏi chiến lược: Khi khách hàng yêu cầu On-Premise để bảo mật dữ liệu và tiết kiệm chi phí lâu dài, ta sẽ chọn công cụ nào?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bài toán nghiệp vụ bóc tách 4 trang hóa đơn và luồng kiểm toán tài chính. Chỉ rõ sơ đồ dòng chảy từ tiếp nhận đến duyệt hoặc dừng khẩn cấp.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Phân tích sự khác biệt sâu sắc giữa 2 sơ đồ: Airflow quản lý chuỗi task hình chữ nhật và phải tự viết nhánh rẽ; Dagster quản lý chuỗi tài sản dữ liệu sống đi kèm các chiếc khiên kiểm định Asset Checks bảo vệ chất lượng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Mổ xẻ 6 bước thực thi trong 1 task Airflow và 4 điểm nghẽn: CPU parsing loop, database lock do state machine, xcom phình to DB và UI bị mù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4 ưu điểm vượt trội trong kiến trúc Dagster: gRPC code server cách ly mã nguồn, ephemeral worker tự dọn dẹp, I/O manager tách biệt storage và Asset Checks bảo vệ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mô hình hạ tầng On-Premise chuẩn doanh nghiệp và so sánh trải nghiệm developer: Dagster vượt trội nhờ khả năng test in-memory 0.12s.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Phân tích bảng so sánh 7 tiêu chí. Airflow vượt trội về độ phủ và hệ thống RBAC, trong khi Dagster vượt trội về quản trị dữ liệu, testing và kiến trúc.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Đưa ra lời khuyên thực tiễn cho ban lãnh đạo và các nhóm kỹ thuật: lựa chọn công cụ dựa trên bài toán cụ thể chứ không theo trào lưu.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Trình bày kế hoạch 3 giai đoạn: POC -&gt; Chạy song song (Hybrid) -&gt; Chuyển dịch toàn diện. Tránh rủi ro 'Big Bang' làm gián đoạn sản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Tóm tắt 3 kết luận chính và mời ban lãnh đạo cùng các đồng nghiệp đặt câu hỏi thảo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74720" y="502920"/>
            <a:ext cx="5242255" cy="347472"/>
          </a:xfrm>
          <a:prstGeom prst="roundRect">
            <a:avLst/>
          </a:prstGeom>
          <a:solidFill>
            <a:srgbClr val="120E20"/>
          </a:solidFill>
          <a:ln w="12700">
            <a:solidFill>
              <a:srgbClr val="282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⚡ INVOICE PDF FLAGSHIP SCENARIO   |   🏢 ON-PREMISE /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500" b="1">
                <a:solidFill>
                  <a:srgbClr val="F8FAFC"/>
                </a:solidFill>
                <a:latin typeface="Arial"/>
              </a:defRPr>
            </a:pPr>
            <a:r>
              <a:t>SO SÁNH THỰC CHIẾN: AIRFLOW vs DAGSTER</a:t>
            </a:r>
          </a:p>
          <a:p>
            <a:pPr algn="ctr">
              <a:spcBef>
                <a:spcPts val="800"/>
              </a:spcBef>
              <a:defRPr sz="1600">
                <a:solidFill>
                  <a:srgbClr val="38BDF8"/>
                </a:solidFill>
                <a:latin typeface="Arial"/>
              </a:defRPr>
            </a:pPr>
            <a:r>
              <a:t>Chuyên đề: Xử lý Hồ sơ Hóa đơn Đa trang (Invoice PDF Processing) &amp; Chuyển dịch On-Premise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343400" cy="2834640"/>
          </a:xfrm>
          <a:prstGeom prst="roundRect">
            <a:avLst/>
          </a:prstGeom>
          <a:solidFill>
            <a:srgbClr val="120E20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182880"/>
          <a:lstStyle/>
          <a:p>
            <a:pPr algn="ctr">
              <a:defRPr sz="2000" b="1">
                <a:solidFill>
                  <a:srgbClr val="38BDF8"/>
                </a:solidFill>
                <a:latin typeface="Arial"/>
              </a:defRPr>
            </a:pPr>
            <a:r>
              <a:t>🌪️ APACHE AIRFLOW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7DD3FC"/>
                </a:solidFill>
                <a:latin typeface="Arial"/>
              </a:defRPr>
            </a:pPr>
            <a:r>
              <a:t>Workflow as Code (Task-Centric)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Hệ sinh thái 10+ năm, chuẩn mực công nghiệp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Điều phối tác vụ định kỳ &amp; tích hợp hạ tầng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KubernetesExecutor, Celery, RBAC chặt chẽ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Hàng trăm nhà cung cấp dịch vụ (Providers)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0067" y="3794760"/>
            <a:ext cx="1051560" cy="1051560"/>
          </a:xfrm>
          <a:prstGeom prst="roundRect">
            <a:avLst/>
          </a:prstGeom>
          <a:solidFill>
            <a:srgbClr val="1A1032"/>
          </a:solidFill>
          <a:ln w="279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3E8FF"/>
                </a:solidFill>
                <a:latin typeface="Arial"/>
              </a:defRPr>
            </a:pPr>
            <a:r>
              <a:t>VS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51015" y="2926080"/>
            <a:ext cx="4343400" cy="2834640"/>
          </a:xfrm>
          <a:prstGeom prst="roundRect">
            <a:avLst/>
          </a:prstGeom>
          <a:solidFill>
            <a:srgbClr val="120E20"/>
          </a:solidFill>
          <a:ln w="2286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 bIns="182880"/>
          <a:lstStyle/>
          <a:p>
            <a:pPr algn="ctr">
              <a:defRPr sz="2000" b="1">
                <a:solidFill>
                  <a:srgbClr val="C084FC"/>
                </a:solidFill>
                <a:latin typeface="Arial"/>
              </a:defRPr>
            </a:pPr>
            <a:r>
              <a:t>💎 DAGSTER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D8B4FE"/>
                </a:solidFill>
                <a:latin typeface="Arial"/>
              </a:defRPr>
            </a:pPr>
            <a:r>
              <a:t>Data as Code (Asset-Centric)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Tách rời Code Server gRPC &amp; Orchestrator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Tích hợp kiểm định dữ liệu (Asset Checks)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Kiểm thử in-memory siêu tốc trong CI/CD (~0.12s)</a:t>
            </a:r>
          </a:p>
          <a:p>
            <a:pPr>
              <a:spcBef>
                <a:spcPts val="600"/>
              </a:spcBef>
              <a:defRPr sz="1120">
                <a:solidFill>
                  <a:srgbClr val="94A3B8"/>
                </a:solidFill>
                <a:latin typeface="Arial"/>
              </a:defRPr>
            </a:pPr>
            <a:r>
              <a:t>• Tự động truy vết Data Lineage &amp; I/O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6016752"/>
            <a:ext cx="8899855" cy="438912"/>
          </a:xfrm>
          <a:prstGeom prst="roundRect">
            <a:avLst/>
          </a:prstGeom>
          <a:solidFill>
            <a:srgbClr val="120E20"/>
          </a:solidFill>
          <a:ln w="12700">
            <a:solidFill>
              <a:srgbClr val="282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Khán giả: CTO, Solution Architect, Tech Lead, Data Platform Team   |   Thời lượng: 35-45 phút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624328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HẠ TẦNG CLOUD HIỆN TẠI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AWS Step Functions &amp; Thách Thức Chuyển Đổi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Đánh giá hiện trạng hạ tầng Cloud hiện tại và động lực di chuyển On-Premise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22C55E"/>
                </a:solidFill>
                <a:latin typeface="Arial"/>
              </a:defRPr>
            </a:pPr>
            <a:r>
              <a:t>✅ LỢI THẾ HIỆN TẠI (PROS)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Hoàn toàn Serverless: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Không tốn công vận hành hạ tầng máy chủ hay cụm cluster.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Auto-Scaling tự động: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Tự động scale theo tải khi có hàng nghìn request đổ về.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Pay-as-you-go: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Chỉ trả phí dựa trên số lượng request và chuyển trạng thái thực tế.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Tích hợp sâu hệ sinh thái AWS: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Kết nối trực tiếp Lambda, S3, DynamoDB, SQS mượt mà.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F43F5E"/>
                </a:solidFill>
                <a:latin typeface="Arial"/>
              </a:defRPr>
            </a:pPr>
            <a:r>
              <a:t>❌ HẠN CHẾ &amp; RỦI RO (CONS)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Khó khăn khi Test &amp; Debug Local: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Mô phỏng Step Function ở local rất phức tạp, chu kỳ phản hồi phát triển chậm.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Chi phí tăng vọt khi Scale tải lớn: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Chi phí state transition rất đắt đỏ khi xử lý hàng triệu hóa đơn/tháng.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Rủi ro Vendor Lock-in: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Bị ràng buộc mã nguồn vào dịch vụ AWS, khó chuyển sang Cloud khác.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Tuân thủ On-Premise &amp; Bảo mật: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Khách hàng tài chính/ngân hàng yêu cầu dữ liệu nhạy cảm phải xử lý nội bộ.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BÀI TOÁN NGHIỆP VỤ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Bài Toán Tự Động Bóc Tách &amp; Duyệt Hóa Đơn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Nghiệp vụ 4 loại hóa đơn &amp; Luồng kiểm toán tài chính (PDF -&gt; Data)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475488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01168" bIns="164592"/>
          <a:lstStyle/>
          <a:p>
            <a:pPr algn="ctr">
              <a:defRPr sz="1450" b="1">
                <a:solidFill>
                  <a:srgbClr val="38BDF8"/>
                </a:solidFill>
                <a:latin typeface="Arial"/>
              </a:defRPr>
            </a:pPr>
            <a:r>
              <a:t>📋 QUY TRÌNH NGHIỆP VỤ &amp; KIỂM TOÁN</a:t>
            </a:r>
          </a:p>
          <a:p>
            <a:pPr>
              <a:spcBef>
                <a:spcPts val="800"/>
              </a:spcBef>
              <a:defRPr b="1" sz="1150">
                <a:solidFill>
                  <a:srgbClr val="F8FAFC"/>
                </a:solidFill>
                <a:latin typeface="Arial"/>
              </a:defRPr>
            </a:pPr>
            <a:r>
              <a:t>1. Phân loại 4 trang hóa đơn (4 Types):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Trang 1 (VAT): Lấy MST, Tiền hàng, Tiền thuế GTGT 10%.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Trang 2 (Utility): Lấy Customer ID đối chiếu tiền điện/nước.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Trang 3 (Travel): Lấy Employee ID để hoàn ứng công tác.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Trang 4 (Retail): ⚠️ Gắn cờ cảnh báo: Không duyệt khấu trừ thuế!</a:t>
            </a:r>
          </a:p>
          <a:p>
            <a:pPr>
              <a:spcBef>
                <a:spcPts val="800"/>
              </a:spcBef>
              <a:defRPr b="1" sz="1150">
                <a:solidFill>
                  <a:srgbClr val="F8FAFC"/>
                </a:solidFill>
                <a:latin typeface="Arial"/>
              </a:defRPr>
            </a:pPr>
            <a:r>
              <a:t>2. Tiêu chuẩn kiểm toán (Validation Rules):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Số học: Tiền hàng + Tiền thuế có khớp Tổng tiền không?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Hạn mức: Tổng tiền toàn bộ hóa đơn có vượt 100M VNĐ không?</a:t>
            </a:r>
          </a:p>
          <a:p>
            <a:pPr>
              <a:spcBef>
                <a:spcPts val="800"/>
              </a:spcBef>
              <a:defRPr b="1" sz="1150">
                <a:solidFill>
                  <a:srgbClr val="F8FAFC"/>
                </a:solidFill>
                <a:latin typeface="Arial"/>
              </a:defRPr>
            </a:pPr>
            <a:r>
              <a:t>3. Kết quả phê duyệt (Approval):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✅ Đạt chuẩn: Duyệt &amp; Lưu vào Database / Ledger.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• ❌ Lỗi / Vượt hạn mức: Dừng ngay lập tức (Hard Stop)!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1536192"/>
            <a:ext cx="5745175" cy="4846320"/>
          </a:xfrm>
          <a:prstGeom prst="roundRect">
            <a:avLst/>
          </a:prstGeom>
          <a:solidFill>
            <a:srgbClr val="0C0A18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0227" y="1719072"/>
            <a:ext cx="3474720" cy="402336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📄 Input PDF (4 Pages)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4707" y="213969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0227" y="2395728"/>
            <a:ext cx="3474720" cy="402336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✂️ Split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4707" y="28163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6683" y="3072384"/>
            <a:ext cx="126187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0284C7"/>
                </a:solidFill>
                <a:latin typeface="Arial"/>
              </a:defRPr>
            </a:pPr>
            <a:r>
              <a:t>VAT Invoice –</a:t>
            </a:r>
          </a:p>
          <a:p>
            <a:pPr algn="ctr">
              <a:spcBef>
                <a:spcPts val="200"/>
              </a:spcBef>
              <a:defRPr sz="850">
                <a:solidFill>
                  <a:srgbClr val="0F172A"/>
                </a:solidFill>
                <a:latin typeface="Arial"/>
              </a:defRPr>
            </a:pPr>
            <a:r>
              <a:t>Tax ID, Net &amp; VAT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9995" y="3072384"/>
            <a:ext cx="126187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0284C7"/>
                </a:solidFill>
                <a:latin typeface="Arial"/>
              </a:defRPr>
            </a:pPr>
            <a:r>
              <a:t>Utility Invoice –</a:t>
            </a:r>
          </a:p>
          <a:p>
            <a:pPr algn="ctr">
              <a:spcBef>
                <a:spcPts val="200"/>
              </a:spcBef>
              <a:defRPr sz="850">
                <a:solidFill>
                  <a:srgbClr val="0F172A"/>
                </a:solidFill>
                <a:latin typeface="Arial"/>
              </a:defRPr>
            </a:pPr>
            <a:r>
              <a:t>Customer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33307" y="3072384"/>
            <a:ext cx="1261872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0284C7"/>
                </a:solidFill>
                <a:latin typeface="Arial"/>
              </a:defRPr>
            </a:pPr>
            <a:r>
              <a:t>Travel Expense –</a:t>
            </a:r>
          </a:p>
          <a:p>
            <a:pPr algn="ctr">
              <a:spcBef>
                <a:spcPts val="200"/>
              </a:spcBef>
              <a:defRPr sz="850">
                <a:solidFill>
                  <a:srgbClr val="0F172A"/>
                </a:solidFill>
                <a:latin typeface="Arial"/>
              </a:defRPr>
            </a:pPr>
            <a:r>
              <a:t>Employee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86619" y="3072384"/>
            <a:ext cx="1261872" cy="86868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BE123C"/>
                </a:solidFill>
                <a:latin typeface="Arial"/>
              </a:defRPr>
            </a:pPr>
            <a:r>
              <a:t>Retail Receipt –</a:t>
            </a:r>
          </a:p>
          <a:p>
            <a:pPr algn="ctr">
              <a:spcBef>
                <a:spcPts val="200"/>
              </a:spcBef>
              <a:defRPr sz="850">
                <a:solidFill>
                  <a:srgbClr val="991B1B"/>
                </a:solidFill>
                <a:latin typeface="Arial"/>
              </a:defRPr>
            </a:pPr>
            <a:r>
              <a:t>⚠️ Reject Tax Deduct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707" y="39593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2987" y="4224528"/>
            <a:ext cx="5029200" cy="658368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78350F"/>
                </a:solidFill>
                <a:latin typeface="Arial"/>
              </a:defRPr>
            </a:pPr>
            <a:r>
              <a:t>🔍 VALIDATION –</a:t>
            </a:r>
          </a:p>
          <a:p>
            <a:pPr algn="ctr">
              <a:spcBef>
                <a:spcPts val="200"/>
              </a:spcBef>
              <a:defRPr sz="950">
                <a:solidFill>
                  <a:srgbClr val="92400E"/>
                </a:solidFill>
                <a:latin typeface="Arial"/>
              </a:defRPr>
            </a:pPr>
            <a:r>
              <a:t>Math check: Net + VAT = Total?   |   Within budget: &lt;= 100M VND?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707" y="490118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4407" y="5157216"/>
            <a:ext cx="2423160" cy="89611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14532D"/>
                </a:solidFill>
                <a:latin typeface="Arial"/>
              </a:defRPr>
            </a:pPr>
            <a:r>
              <a:t>✅ APPROVED (Pass)</a:t>
            </a:r>
          </a:p>
          <a:p>
            <a:pPr algn="ctr">
              <a:spcBef>
                <a:spcPts val="200"/>
              </a:spcBef>
              <a:defRPr sz="950">
                <a:solidFill>
                  <a:srgbClr val="166534"/>
                </a:solidFill>
                <a:latin typeface="Arial"/>
              </a:defRPr>
            </a:pPr>
            <a:r>
              <a:t>Write to Database / Ledger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7607" y="5157216"/>
            <a:ext cx="2423160" cy="896112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991B1B"/>
                </a:solidFill>
                <a:latin typeface="Arial"/>
              </a:defRPr>
            </a:pPr>
            <a:r>
              <a:t>❌ REJECTED (Fail)</a:t>
            </a:r>
          </a:p>
          <a:p>
            <a:pPr algn="ctr">
              <a:spcBef>
                <a:spcPts val="200"/>
              </a:spcBef>
              <a:defRPr sz="950">
                <a:solidFill>
                  <a:srgbClr val="7F1D1D"/>
                </a:solidFill>
                <a:latin typeface="Arial"/>
              </a:defRPr>
            </a:pPr>
            <a:r>
              <a:t>Hard Stop Pipeline!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020824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TRIẾT LÝ CỐT LÕI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Đối Chiếu Kiến Trúc: Task-Centric vs Asset-Centric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Chuỗi hành động thực thi (Airflow Tasks) vs Mạng lưới tài sản dữ liệu (Dagster Assets)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09344"/>
            <a:ext cx="4946904" cy="292608"/>
          </a:xfrm>
          <a:prstGeom prst="roundRect">
            <a:avLst/>
          </a:prstGeom>
          <a:solidFill>
            <a:srgbClr val="0C1C30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  <a:latin typeface="Arial"/>
              </a:defRPr>
            </a:pPr>
            <a:r>
              <a:t>⚙️ GÓC NHÌN AIRFLOW (Task-Centric)  |  Làm gì tiếp? • Mù dữ liệu • XCom qua 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65860" y="1975104"/>
            <a:ext cx="4297680" cy="384048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📄 ingest_multipage_invoice_pdf</a:t>
            </a:r>
          </a:p>
          <a:p>
            <a:pPr algn="ctr">
              <a:spcBef>
                <a:spcPts val="200"/>
              </a:spcBef>
              <a:defRPr sz="850">
                <a:solidFill>
                  <a:srgbClr val="94A3B8"/>
                </a:solidFill>
                <a:latin typeface="Arial"/>
              </a:defRPr>
            </a:pPr>
            <a:r>
              <a:t>Input: 4-Page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1820" y="23591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65860" y="2578608"/>
            <a:ext cx="4297680" cy="384048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⚙️ check_pdf_integrity</a:t>
            </a:r>
          </a:p>
          <a:p>
            <a:pPr algn="ctr">
              <a:spcBef>
                <a:spcPts val="200"/>
              </a:spcBef>
              <a:defRPr sz="850">
                <a:solidFill>
                  <a:srgbClr val="94A3B8"/>
                </a:solidFill>
                <a:latin typeface="Arial"/>
              </a:defRPr>
            </a:pPr>
            <a:r>
              <a:t>@task.branch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0300" y="2962656"/>
            <a:ext cx="18288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↓ Valid 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5860" y="3182112"/>
            <a:ext cx="4297680" cy="384048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✂️ classify_invoice_pages</a:t>
            </a:r>
          </a:p>
          <a:p>
            <a:pPr algn="ctr">
              <a:spcBef>
                <a:spcPts val="200"/>
              </a:spcBef>
              <a:defRPr sz="850">
                <a:solidFill>
                  <a:srgbClr val="94A3B8"/>
                </a:solidFill>
                <a:latin typeface="Arial"/>
              </a:defRPr>
            </a:pPr>
            <a:r>
              <a:t>Group 4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1820" y="356616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1852" y="3785615"/>
            <a:ext cx="1051560" cy="62179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00" b="1">
                <a:solidFill>
                  <a:srgbClr val="38BDF8"/>
                </a:solidFill>
                <a:latin typeface="Arial"/>
              </a:defRPr>
            </a:pPr>
            <a:r>
              <a:t>⚡ VAT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Cloud: 55M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26564" y="3785615"/>
            <a:ext cx="1051560" cy="62179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00" b="1">
                <a:solidFill>
                  <a:srgbClr val="38BDF8"/>
                </a:solidFill>
                <a:latin typeface="Arial"/>
              </a:defRPr>
            </a:pPr>
            <a:r>
              <a:t>⚡ Utility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EVN: 1.85M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1276" y="3785615"/>
            <a:ext cx="1051560" cy="62179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00" b="1">
                <a:solidFill>
                  <a:srgbClr val="38BDF8"/>
                </a:solidFill>
                <a:latin typeface="Arial"/>
              </a:defRPr>
            </a:pPr>
            <a:r>
              <a:t>⚡ Travel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Flight: 3.2M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5988" y="3785615"/>
            <a:ext cx="1051560" cy="621792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850" b="1">
                <a:solidFill>
                  <a:srgbClr val="991B1B"/>
                </a:solidFill>
                <a:latin typeface="Arial"/>
              </a:defRPr>
            </a:pPr>
            <a:r>
              <a:t>⚡ Retail (⚠️)</a:t>
            </a:r>
          </a:p>
          <a:p>
            <a:pPr algn="ctr">
              <a:spcBef>
                <a:spcPts val="200"/>
              </a:spcBef>
              <a:defRPr sz="750">
                <a:solidFill>
                  <a:srgbClr val="991B1B"/>
                </a:solidFill>
                <a:latin typeface="Arial"/>
              </a:defRPr>
            </a:pPr>
            <a:r>
              <a:t>Retail: 150K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1820" y="442569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65860" y="4645152"/>
            <a:ext cx="4297680" cy="384048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F8FAFC"/>
                </a:solidFill>
                <a:latin typeface="Arial"/>
              </a:defRPr>
            </a:pPr>
            <a:r>
              <a:t>📥 collect_extracted_invoices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TriggerRule: NONE_FAILED_MIN_ONE_SUCCESS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1820" y="502920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10996" y="5248656"/>
            <a:ext cx="2121408" cy="621792"/>
          </a:xfrm>
          <a:prstGeom prst="roundRect">
            <a:avLst/>
          </a:prstGeom>
          <a:solidFill>
            <a:srgbClr val="064E3B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4ADE80"/>
                </a:solidFill>
                <a:latin typeface="Arial"/>
              </a:defRPr>
            </a:pPr>
            <a:r>
              <a:t>✅ lock_publish_ledger</a:t>
            </a:r>
          </a:p>
          <a:p>
            <a:pPr algn="ctr">
              <a:spcBef>
                <a:spcPts val="200"/>
              </a:spcBef>
              <a:defRPr sz="800">
                <a:solidFill>
                  <a:srgbClr val="F8FAFC"/>
                </a:solidFill>
                <a:latin typeface="Arial"/>
              </a:defRPr>
            </a:pPr>
            <a:r>
              <a:t>Pass &lt;= 100M: 60.2M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6996" y="5248656"/>
            <a:ext cx="2121408" cy="621792"/>
          </a:xfrm>
          <a:prstGeom prst="roundRect">
            <a:avLst/>
          </a:prstGeom>
          <a:solidFill>
            <a:srgbClr val="4C05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50" b="1">
                <a:solidFill>
                  <a:srgbClr val="F87171"/>
                </a:solidFill>
                <a:latin typeface="Arial"/>
              </a:defRPr>
            </a:pPr>
            <a:r>
              <a:t>❌ alert_audit_violation</a:t>
            </a:r>
          </a:p>
          <a:p>
            <a:pPr algn="ctr">
              <a:spcBef>
                <a:spcPts val="200"/>
              </a:spcBef>
              <a:defRPr sz="800">
                <a:solidFill>
                  <a:srgbClr val="F8FAFC"/>
                </a:solidFill>
                <a:latin typeface="Arial"/>
              </a:defRPr>
            </a:pPr>
            <a:r>
              <a:t>Fail &gt; 100M: Skip Ledger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3815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3543" y="1609344"/>
            <a:ext cx="4946904" cy="292608"/>
          </a:xfrm>
          <a:prstGeom prst="roundRect">
            <a:avLst/>
          </a:prstGeom>
          <a:solidFill>
            <a:srgbClr val="200E34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💎 GÓC NHÌN DAGSTER (Asset-Centric)  |  Tạo tài sản gì? • Khiên Checks • I/O Manager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82435" y="1975104"/>
            <a:ext cx="4389120" cy="384048"/>
          </a:xfrm>
          <a:prstGeom prst="roundRect">
            <a:avLst/>
          </a:prstGeom>
          <a:solidFill>
            <a:srgbClr val="1E1B4B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E0E7FF"/>
                </a:solidFill>
                <a:latin typeface="Arial"/>
              </a:defRPr>
            </a:pPr>
            <a:r>
              <a:t>📄 raw_multipage_invoice_pdf</a:t>
            </a:r>
          </a:p>
          <a:p>
            <a:pPr algn="ctr">
              <a:spcBef>
                <a:spcPts val="200"/>
              </a:spcBef>
              <a:defRPr sz="850">
                <a:solidFill>
                  <a:srgbClr val="38BDF8"/>
                </a:solidFill>
                <a:latin typeface="Arial"/>
              </a:defRPr>
            </a:pPr>
            <a:r>
              <a:t>🛡️ check_pdf_file_integrity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4115" y="23591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82435" y="2578608"/>
            <a:ext cx="4389120" cy="384048"/>
          </a:xfrm>
          <a:prstGeom prst="roundRect">
            <a:avLst/>
          </a:prstGeom>
          <a:solidFill>
            <a:srgbClr val="1E1B4B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E0E7FF"/>
                </a:solidFill>
                <a:latin typeface="Arial"/>
              </a:defRPr>
            </a:pPr>
            <a:r>
              <a:t>📑 extracted_invoice_pages</a:t>
            </a:r>
          </a:p>
          <a:p>
            <a:pPr algn="ctr">
              <a:spcBef>
                <a:spcPts val="200"/>
              </a:spcBef>
              <a:defRPr sz="850">
                <a:solidFill>
                  <a:srgbClr val="94A3B8"/>
                </a:solidFill>
                <a:latin typeface="Arial"/>
              </a:defRPr>
            </a:pPr>
            <a:r>
              <a:t>OCR &amp; AI Parsing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4115" y="296265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4147" y="3182112"/>
            <a:ext cx="1051560" cy="640080"/>
          </a:xfrm>
          <a:prstGeom prst="roundRect">
            <a:avLst/>
          </a:prstGeom>
          <a:solidFill>
            <a:srgbClr val="2E1065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850" b="1">
                <a:solidFill>
                  <a:srgbClr val="F3E8FF"/>
                </a:solidFill>
                <a:latin typeface="Arial"/>
              </a:defRPr>
            </a:pPr>
            <a:r>
              <a:t>⚡ vat_invoices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55M (VAT 5M)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88859" y="3182112"/>
            <a:ext cx="1051560" cy="640080"/>
          </a:xfrm>
          <a:prstGeom prst="roundRect">
            <a:avLst/>
          </a:prstGeom>
          <a:solidFill>
            <a:srgbClr val="2E1065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850" b="1">
                <a:solidFill>
                  <a:srgbClr val="F3E8FF"/>
                </a:solidFill>
                <a:latin typeface="Arial"/>
              </a:defRPr>
            </a:pPr>
            <a:r>
              <a:t>⚡ utility_inv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EVN: 1.85M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3571" y="3182112"/>
            <a:ext cx="1051560" cy="640080"/>
          </a:xfrm>
          <a:prstGeom prst="roundRect">
            <a:avLst/>
          </a:prstGeom>
          <a:solidFill>
            <a:srgbClr val="2E1065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850" b="1">
                <a:solidFill>
                  <a:srgbClr val="F3E8FF"/>
                </a:solidFill>
                <a:latin typeface="Arial"/>
              </a:defRPr>
            </a:pPr>
            <a:r>
              <a:t>⚡ reimburse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Flight: 3.2M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38283" y="3182112"/>
            <a:ext cx="1051560" cy="640080"/>
          </a:xfrm>
          <a:prstGeom prst="roundRect">
            <a:avLst/>
          </a:prstGeom>
          <a:solidFill>
            <a:srgbClr val="3B0764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850" b="1">
                <a:solidFill>
                  <a:srgbClr val="FECDD3"/>
                </a:solidFill>
                <a:latin typeface="Arial"/>
              </a:defRPr>
            </a:pPr>
            <a:r>
              <a:t>⚡ invalid_inv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Retail: 150K ⚠️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8275" y="3840480"/>
            <a:ext cx="237744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↓ Fan-In Convergence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82435" y="4096512"/>
            <a:ext cx="4389120" cy="502920"/>
          </a:xfrm>
          <a:prstGeom prst="roundRect">
            <a:avLst/>
          </a:prstGeom>
          <a:solidFill>
            <a:srgbClr val="2E1065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3E8FF"/>
                </a:solidFill>
                <a:latin typeface="Arial"/>
              </a:defRPr>
            </a:pPr>
            <a:r>
              <a:t>📊 categorized_invoices</a:t>
            </a:r>
          </a:p>
          <a:p>
            <a:pPr algn="ctr">
              <a:spcBef>
                <a:spcPts val="200"/>
              </a:spcBef>
              <a:defRPr sz="850">
                <a:solidFill>
                  <a:srgbClr val="F59E0B"/>
                </a:solidFill>
                <a:latin typeface="Arial"/>
              </a:defRPr>
            </a:pPr>
            <a:r>
              <a:t>🛡️ check_vat_tax_math  |  🛡️ check_budget_limit (blocking=True)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2595" y="4626864"/>
            <a:ext cx="182880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950" b="1">
                <a:solidFill>
                  <a:srgbClr val="22C55E"/>
                </a:solidFill>
                <a:latin typeface="Arial"/>
              </a:defRPr>
            </a:pPr>
            <a:r>
              <a:t>↓ Materialize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82435" y="4864608"/>
            <a:ext cx="4389120" cy="548640"/>
          </a:xfrm>
          <a:prstGeom prst="roundRect">
            <a:avLst/>
          </a:prstGeom>
          <a:solidFill>
            <a:srgbClr val="064E3B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50" b="1">
                <a:solidFill>
                  <a:srgbClr val="4ADE80"/>
                </a:solidFill>
                <a:latin typeface="Arial"/>
              </a:defRPr>
            </a:pPr>
            <a:r>
              <a:t>💎 monthly_expense_ledger</a:t>
            </a:r>
          </a:p>
          <a:p>
            <a:pPr algn="ctr">
              <a:spcBef>
                <a:spcPts val="200"/>
              </a:spcBef>
              <a:defRPr sz="850">
                <a:solidFill>
                  <a:srgbClr val="F8FAFC"/>
                </a:solidFill>
                <a:latin typeface="Arial"/>
              </a:defRPr>
            </a:pPr>
            <a:r>
              <a:t>Approved: 60.2M VND (Published to Storage &amp; Dashboard)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DEEP DIVE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Vòng Đời Thực Thi 1 Task Trong Apache Airflow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 trình thực thi 6 bước &amp; Các điểm nghẽn kiến trúc (DAG Parsing Loop, DB Hits, XCom DB)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8521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5486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⚙️ AIRFLOW TASK EXECUTION (Chu Trình 6 Bước)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956816"/>
            <a:ext cx="5394960" cy="438912"/>
          </a:xfrm>
          <a:prstGeom prst="roundRect">
            <a:avLst/>
          </a:prstGeom>
          <a:solidFill>
            <a:srgbClr val="1E1B4B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📁 1. Write Code File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(dags/invoice_dag.py)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41401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51760"/>
            <a:ext cx="5394960" cy="438912"/>
          </a:xfrm>
          <a:prstGeom prst="roundRect">
            <a:avLst/>
          </a:prstGeom>
          <a:solidFill>
            <a:srgbClr val="4C05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🔄 2. DAG Parsing Loop (Mỗi 30 Giây)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(Scheduler re-compiles Python from disk - CPU Overhead)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10896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346704"/>
            <a:ext cx="5394960" cy="438912"/>
          </a:xfrm>
          <a:prstGeom prst="roundRect">
            <a:avLst/>
          </a:prstGeom>
          <a:solidFill>
            <a:srgbClr val="4C05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🗄️ 3. Task State Transitions (DB Hits)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[NONE] ➔ [SCHEDULED] ➔ [QUEUED] ➔ UPDATE task_instance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80390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041648"/>
            <a:ext cx="5394960" cy="43891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⚡ 4. Worker Pulls &amp; Runs Task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(State: [RUNNING] trên Celery Worker / K8s Pod)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498848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736592"/>
            <a:ext cx="5394960" cy="438912"/>
          </a:xfrm>
          <a:prstGeom prst="roundRect">
            <a:avLst/>
          </a:prstGeom>
          <a:solidFill>
            <a:srgbClr val="4C0519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📦 5. Data Exchange via XCom DB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INSERT INTO xcom VALUES (...) (JSON/Pickle Payloads in Postgres)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9379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5431536"/>
            <a:ext cx="5394960" cy="43891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💻 6. Webserver DB Polling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SELECT state ➔ Tô màu ô Xanh/Đỏ (⚠️ MÙ DỮ LIỆU)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536192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F59E0B"/>
                </a:solidFill>
                <a:latin typeface="Arial"/>
              </a:defRPr>
            </a:pPr>
            <a:r>
              <a:t>🔄 1. Bị Ép Re-Parse Liên Tục (30s/lần)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Scheduler không lưu cấu trúc trên RAM mà liên tục đọc và biên dịch lại code Python. Lỡ import OCR nặng ngoài hàm ➔ Treo 100% CPU toàn cụm.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2779776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F43F5E"/>
                </a:solidFill>
                <a:latin typeface="Arial"/>
              </a:defRPr>
            </a:pPr>
            <a:r>
              <a:t>🗄️ 2. State Machine Bắn Query DB Dồn Dập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Mỗi bước chuyển trạng thái (None ➔ Scheduled ➔ Queued ➔ Running ➔ Success) đều UPDATE Postgres ➔ Nguy cơ lock bảng khi tải lớn.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023360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A855F7"/>
                </a:solidFill>
                <a:latin typeface="Arial"/>
              </a:defRPr>
            </a:pPr>
            <a:r>
              <a:t>📦 3. Ép Nạp Dữ Liệu XCom Thẳng Vào Postgres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Khi task return, Airflow serialize rồi INSERT INTO xcom. Dữ liệu lớn (ảnh hóa đơn, DataFrame) làm phình to DB và nghẽn I/O hệ thống.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5266944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F43F5E"/>
                </a:solidFill>
                <a:latin typeface="Arial"/>
              </a:defRPr>
            </a:pPr>
            <a:r>
              <a:t>👁️ 4. Kết Thúc Bằng 'Mù Dữ Liệu' Trên UI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Webserver chỉ đọc DB để tô màu ô vuông Xanh/Đỏ. Kỹ sư hoàn toàn không biết bên trong có bao nhiêu tiền, bao nhiêu hóa đơn nếu không mò 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DEEP DIVE DAGSTER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Kiến Trúc Điều Phối Hiện Đại Trong Dagster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 trình phân tách 6 bước (gRPC Code Server, Ephemeral Worker, I/O Manager, Khiên Asset Checks)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8521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5486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Arial"/>
              </a:defRPr>
            </a:pPr>
            <a:r>
              <a:t>💎 DAGSTER ASSET MATERIALIZATION (Chu Trình Phân Tách)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956816"/>
            <a:ext cx="5394960" cy="438912"/>
          </a:xfrm>
          <a:prstGeom prst="roundRect">
            <a:avLst/>
          </a:prstGeom>
          <a:solidFill>
            <a:srgbClr val="1E1B4B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📦 1. User Code Server (Isolated Process)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assets.py với các hàm pure Python trong môi trường độc lập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41401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51760"/>
            <a:ext cx="5394960" cy="43891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🌐 2. gRPC Discovery (Zero Scheduler Load)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Gửi Asset Schema &amp; Lineage qua gRPC - Không bao giờ parse định kỳ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10896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346704"/>
            <a:ext cx="5394960" cy="43891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⏱️ 3. Trigger &amp; Run Execution Plan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Sensor / Schedule / UI Materialize ➔ Bắn Event log vào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80390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041648"/>
            <a:ext cx="5394960" cy="43891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🚀 4. Launch Ephemeral Worker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Khởi động Pod/Container độc lập để thực thi tính toán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498848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736592"/>
            <a:ext cx="5394960" cy="438912"/>
          </a:xfrm>
          <a:prstGeom prst="roundRect">
            <a:avLst/>
          </a:prstGeom>
          <a:solidFill>
            <a:srgbClr val="064E3B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💾 5A. I/O Manager  &amp;  🛡️ 5B. Asset Checks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Payloads đẩy thẳng S3/MinIO  |  @asset_check(blocking=True) kiểm toán tại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9379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5431536"/>
            <a:ext cx="5394960" cy="438912"/>
          </a:xfrm>
          <a:prstGeom prst="roundRect">
            <a:avLst/>
          </a:prstGeom>
          <a:solidFill>
            <a:srgbClr val="2E1065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📊 6. Real-time Event Log &amp; UI Lineage</a:t>
            </a:r>
          </a:p>
          <a:p>
            <a:pPr algn="ctr">
              <a:spcBef>
                <a:spcPts val="200"/>
              </a:spcBef>
              <a:defRPr sz="800">
                <a:solidFill>
                  <a:srgbClr val="94A3B8"/>
                </a:solidFill>
                <a:latin typeface="Arial"/>
              </a:defRPr>
            </a:pPr>
            <a:r>
              <a:t>Hiện giá trị tiền, số lượng hóa đơn trực quan ngay trên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536192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818CF8"/>
                </a:solidFill>
                <a:latin typeface="Arial"/>
              </a:defRPr>
            </a:pPr>
            <a:r>
              <a:t>🛡️ 1. Khám Phá Metadata Qua gRPC (Zero Load)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Code người dùng chạy trong tiến trình riêng. Nền tảng chỉ dùng gRPC để hỏi schema và lineage, hoàn toàn không nạp code Python của user vào Scheduler.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2779776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C084FC"/>
                </a:solidFill>
                <a:latin typeface="Arial"/>
              </a:defRPr>
            </a:pPr>
            <a:r>
              <a:t>🚀 2. Chạy Trong Worker Độc Lập (Ephemeral)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Mỗi lần chạy bật một container/pod độc lập thực thi hàm Asset thuần khiết. Code có crash hay OOM thì Daemon và Webserver vẫn an toàn 100%.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023360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22C55E"/>
                </a:solidFill>
                <a:latin typeface="Arial"/>
              </a:defRPr>
            </a:pPr>
            <a:r>
              <a:t>💾 3. I/O Manager Độc Lập &amp; Không Đụng DB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Dữ liệu trả về được I/O Manager tự động đẩy thẳng lên S3/MinIO hoặc Snowflake. Database hệ thống chỉ lưu nhật ký sự kiện, không lo phình bộ nhớ.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5266944"/>
            <a:ext cx="4556455" cy="10972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91440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4. Asset Checks Đánh Chặn &amp; Báo Cáo Trên UI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Kiểm định chất lượng dữ liệu được gắn trực tiếp vào Asset. Nếu vi phạm trần 100M sẽ chặn downstream ngay và cảnh báo trên giao diện.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523744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Hạ Tầng On-Premise &amp; Năng Lực Kiểm Thử CI/CD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Kiến trúc cụm On-Prem (Kubernetes, MinIO, PostgreSQL) và Tốc độ kiểm thử tự động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38BDF8"/>
                </a:solidFill>
                <a:latin typeface="Arial"/>
              </a:defRPr>
            </a:pPr>
            <a:r>
              <a:t>🏢 HẠ TẦNG ON-PREMISE (K8S &amp; STORAGE)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Kubernetes Cluster: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Triển khai điều phối bằng Helm Charts chính thức của Airflow / Dagster.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MinIO (Object Storage S3-Compatible):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Thay thế hoàn hảo AWS S3 để lưu trữ file PDF hóa đơn và artifacts.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PostgreSQL HA: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Lưu trữ metadata của hệ thống với cụm replica độ tin cậy cao.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Vault &amp; Keycloak: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Quản lý secret và xác thực bảo mật tập trung cho toàn bộ dịch vụ.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22C55E"/>
                </a:solidFill>
                <a:latin typeface="Arial"/>
              </a:defRPr>
            </a:pPr>
            <a:r>
              <a:t>⚡ TỐC ĐỘ KIỂM THỬ CI/CD &amp; DEVELOPER UX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Airflow Unit Test (Phức tạp, 5-15 giây):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Cần khởi tạo SQLite database giả lập, mock context và task instance. Chạy chậm trong CI.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Dagster In-Memory Test (Cực nhanh, ~0.12 giây):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Hỗ trợ materialize([asset_name]) trực tiếp trong RAM, không cần database hay server. Tích hợp trơn tru vào Pytest.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Tự tin Refactor: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Kỹ sư tự do thay đổi logic xử lý hóa đơn và kiểm tra ngay lập tức tại máy cá nhân.</a:t>
            </a:r>
          </a:p>
          <a:p>
            <a:pPr>
              <a:spcBef>
                <a:spcPts val="1100"/>
              </a:spcBef>
              <a:defRPr b="1" sz="1200">
                <a:solidFill>
                  <a:srgbClr val="F8FAFC"/>
                </a:solidFill>
                <a:latin typeface="Arial"/>
              </a:defRPr>
            </a:pPr>
            <a:r>
              <a:t>• Tối ưu chu kỳ phản hồi: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Rút ngắn thời gian phát hiện lỗi từ hàng phút xuống chỉ vài trăm mili-giây.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BẢNG ĐIỂM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Ma Trận So Sánh Kỹ Thuật Tổng Hợp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Đánh giá 7 tiêu chí so sánh toàn diện giữa Apache Airflow và Dagster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72768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886200"/>
                <a:gridCol w="3886200"/>
                <a:gridCol w="853135"/>
              </a:tblGrid>
              <a:tr h="59436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Tiêu Chí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Apache Airflow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Thắng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Mô hình cốt lõi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Task-Centric (Workflow as Code)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Asset-Centric (Data as Code)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Quản lý Dữ liệu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XCom qua Database (Dễ nghẽn)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I/O Manager tự động (S3/MinIO)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Kiểm định Dữ liệu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Tự viết Task/Sensor kiểm tra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Asset Checks 1st-class tích hợp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Kiểm thử Local &amp; CI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Mock phức tạp, khởi tạo DB chậm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In-Memory Test cực nhanh (0.12s)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Độ chín &amp; Cộng đồng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10+ năm, tài liệu &amp; provider khổng lồ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Mới hơn, cộng đồng đang tăng trưởng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Airflow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Bảo mật &amp; Phân quyền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RBAC hoàn thiện, hỗ trợ LDAP/OAuth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RBAC chủ yếu trên Dagster Cloud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Airflow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Điều phối Đa nhiệm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Mạnh về Job hạ tầng / DevOps / Spark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Mạnh về Modern Data Platform &amp; AI/ML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Hòa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ĐỊNH VỊ 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Định Vị Giải Pháp: Tiêu Chí Lựa Chọn Airflow vs Dagster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Căn cứ lựa chọn công nghệ phù hợp với đặc thù dự án và bài toán của doanh nghiệp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38BDF8"/>
                </a:solidFill>
                <a:latin typeface="Arial"/>
              </a:defRPr>
            </a:pPr>
            <a:r>
              <a:t>🎯 NÊN CHỌN AIRFLOW KHI: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Team đã có kinh nghiệm Airflow dày dặn: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Tận dụng hạ tầng, kỹ năng và quy trình DevOps sẵn có.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Bài toán điều phối hạ tầng (Orchestration):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Kích hoạt định kỳ các tác vụ dbt, EMR, Kubernetes Job, backup DB.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Hệ thống yêu cầu RBAC khắt khe On-Premise: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Cần phân quyền truy cập DAG chi tiết cho từng người dùng/nhóm.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Ít quan tâm đến Data Lineage &amp; Asset Quality: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Quy trình ETL đơn giản, chuyển dữ liệu từ A sang B định kỳ.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Cần sự ổn định lâu dài: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Thư viện plugin phong phú hỗ trợ gần như mọi dịch vụ công nghệ trên thị trường.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C084FC"/>
                </a:solidFill>
                <a:latin typeface="Arial"/>
              </a:defRPr>
            </a:pPr>
            <a:r>
              <a:t>🎯 NÊN CHỌN DAGSTER KHI: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Xây dựng Modern Data Platform / Data Mesh: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Nơi tài sản dữ liệu, chất lượng dữ liệu và Data Catalog là ưu tiên hàng đầu.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Tập trung vào Tự động hóa Kiểm thử (Testing):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Muốn kiểm thử toàn bộ pipeline trong CI/CD trước khi đưa lên production.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Pipeline xử lý dữ liệu phức tạp &amp; AI/ML: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Cần theo dõi Data Lineage, phân nhánh theo chất lượng dữ liệu như bài toán hóa đơn.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Môi trường phát triển đa đội ngũ: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Nhiều team cùng phát triển trên các Code Server cô lập, không ảnh hưởng lẫn nhau.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Muốn trải nghiệm phát triển (DevX) vượt trội: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Giao diện hiện đại, trực quan, hỗ trợ reload code chỉ với một cú click.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KẾ HOẠCH HÀNH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Lộ Trình Triển Khai Chuyển Đổi 3 Giai Đoạn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Chiến lược chuyển đổi khả thi giúp giảm thiểu rủi ro gián đoạn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3332073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GIAI ĐOẠN 1 (Tháng 1-2)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THỬ NGHIỆM (POC)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Triển khai cụm thử nghiệm (Local / Dev K8s).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Chạy song song kịch bản xử lý Invoice PDF trên cả 2 công cụ.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Đo lường thời gian test CI/CD và độ ổn định khi tải tăng.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Thu thập đánh giá trải nghiệm thực tế từ các kỹ sư dữ liệu.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9353" y="1536192"/>
            <a:ext cx="3332073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GIAI ĐOẠN 2 (Tháng 3-4)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HYBRID CO-EXISTENCE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Tận dụng Airflow điều phối các tác vụ hạ tầng và hệ thống cũ.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Sử dụng Dagster cho các pipeline bóc tách dữ liệu mới và AI/ML.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Đồng bộ hóa lưu trữ artifacts qua MinIO On-Premise chung.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Xây dựng bộ quy chuẩn CI/CD và tiêu chuẩn viết Asset Checks.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7186" y="1536192"/>
            <a:ext cx="3332073" cy="4846320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22C55E"/>
                </a:solidFill>
                <a:latin typeface="Arial"/>
              </a:defRPr>
            </a:pPr>
            <a:r>
              <a:t>GIAI ĐOẠN 3 (Tháng 5+)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CHUYỂN DỊCH HOÀN TOÀN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Di chuyển toàn bộ pipeline nghiệp vụ quan trọng sang nền tảng chuẩn hóa.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Hoàn thiện hệ thống giám sát cảnh báo (Prometheus, Grafana).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Đóng gói tài liệu bàn giao, đào tạo nội bộ và tối ưu hóa chi phí On-Prem.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Tự tin mở rộng quy mô xử lý hàng triệu hóa đơn/tháng.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423160" cy="292608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950" b="1">
                <a:solidFill>
                  <a:srgbClr val="C084FC"/>
                </a:solidFill>
                <a:latin typeface="Arial"/>
              </a:defRPr>
            </a:pPr>
            <a:r>
              <a:t>KẾT LUẬN &amp; THẢO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Tổng Kết &amp; Thảo Luận (Q&amp;A)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Thông điệp cốt lõi và sẵn sàng giải đáp thắc mắc chuyên sâu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10728655" cy="987552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1. Không có công cụ 'hoàn hảo nhất', chỉ có công cụ 'phù hợp nhất':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Airflow vững chãi cho điều phối hạ tầng truyền thống; Dagster vượt trội cho kỹ thuật dữ liệu hiện đại và kiểm soát chất lượng.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33472"/>
            <a:ext cx="10728655" cy="987552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C084FC"/>
                </a:solidFill>
                <a:latin typeface="Arial"/>
              </a:defRPr>
            </a:pPr>
            <a:r>
              <a:t>2. Asset-Centric là tương lai của Quản trị Dữ liệu: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Tư duy lấy dữ liệu làm trung tâm giúp doanh nghiệp kiểm soát tính toàn vẹn, data lineage và sẵn sàng cho các bài toán AI/LLM.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752"/>
            <a:ext cx="10728655" cy="987552"/>
          </a:xfrm>
          <a:prstGeom prst="roundRect">
            <a:avLst/>
          </a:prstGeom>
          <a:solidFill>
            <a:srgbClr val="120E2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22C55E"/>
                </a:solidFill>
                <a:latin typeface="Arial"/>
              </a:defRPr>
            </a:pPr>
            <a:r>
              <a:t>3. Tự chủ On-Premise tối ưu chi phí và bảo mật: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Kết hợp Kubernetes và MinIO giúp doanh nghiệp kiểm soát 100% dữ liệu nhạy cảm mà không bị phụ thuộc vào hóa đơn điện toán đám mây.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9472"/>
            <a:ext cx="10728655" cy="1444752"/>
          </a:xfrm>
          <a:prstGeom prst="roundRect">
            <a:avLst/>
          </a:prstGeom>
          <a:solidFill>
            <a:srgbClr val="120E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22C55E"/>
                </a:solidFill>
                <a:latin typeface="Arial"/>
              </a:defRPr>
            </a:pPr>
            <a:r>
              <a:t>💬 SẴN SÀNG TRẢ LỜI CÂU HỎI (Q&amp;A)</a:t>
            </a:r>
          </a:p>
          <a:p>
            <a:pPr algn="ctr">
              <a:spcBef>
                <a:spcPts val="600"/>
              </a:spcBef>
              <a:defRPr sz="1300">
                <a:solidFill>
                  <a:srgbClr val="F8FAFC"/>
                </a:solidFill>
                <a:latin typeface="Arial"/>
              </a:defRPr>
            </a:pPr>
            <a:r>
              <a:t>Xin chân thành cảm ơn quý anh chị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