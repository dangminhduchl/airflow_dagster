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bìa: Giới thiệu chuyên đề so sánh Airflow vs Dagster trên bài toán bóc tách PDF thực chiến. Giải thích lý do chọn chủ đề và mục tiêu chuyển dịch On-Premise.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Nêu rõ bối cảnh các dự án trước đây dùng AWS Step Functions. Đặt câu hỏi chiến lược: Khi khách hàng yêu cầu On-Premise để bảo mật dữ liệu và tiết kiệm chi phí lâu dài, ta sẽ chọn công cụ nào?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Giới thiệu bài toán nghiệp vụ bóc tách 4 trang hóa đơn và luồng kiểm toán tài chính. Chỉ rõ sơ đồ dòng chảy từ tiếp nhận đến duyệt hoặc dừng khẩn cấp.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Phân tích sự khác biệt sâu sắc giữa 2 sơ đồ: Airflow quản lý chuỗi task hình chữ nhật và phải tự viết 2 lần @task.branch + TriggerRule khi gom nhánh; Dagster quản lý chuỗi tài sản dữ liệu sống đi kèm các chiếc khiên kiểm định Asset Checks độc lập, tự động ngắt cầu dao (blocking=True) bảo vệ sổ cái ERP.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Mổ xẻ 6 bước thực thi trong 1 task Airflow và 4 điểm nghẽn: CPU parsing loop, database lock do state machine, xcom phình to DB và UI bị mù dữ liệu.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Giới thiệu 4 ưu điểm vượt trội trong kiến trúc Dagster: gRPC code server cách ly mã nguồn, ephemeral worker tự dọn dẹp, I/O manager tách biệt storage và Asset Checks bảo vệ dữ liệu.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Giới thiệu mô hình hạ tầng On-Premise chuẩn doanh nghiệp và so sánh trải nghiệm developer: Dagster vượt trội nhờ khả năng test in-memory 0.12s.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Phân tích bảng so sánh 7 tiêu chí. Airflow vượt trội về độ phủ và hệ thống RBAC, trong khi Dagster vượt trội về quản trị dữ liệu, testing và kiến trúc.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Đưa ra lời khuyên thực tiễn cho ban lãnh đạo và các nhóm kỹ thuật: lựa chọn công cụ dựa trên bài toán cụ thể chứ không theo trào lưu.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Trình bày kế hoạch 3 giai đoạn: POC -&gt; Chạy song song (Hybrid) -&gt; Chuyển dịch toàn diện. Tránh rủi ro 'Big Bang' làm gián đoạn sản xuất.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Tóm tắt 3 kết luận chính và mời ban lãnh đạo cùng các đồng nghiệp đặt câu hỏi thảo luận.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5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74720" y="502920"/>
            <a:ext cx="5242255" cy="347472"/>
          </a:xfrm>
          <a:prstGeom prst="roundRect">
            <a:avLst/>
          </a:prstGeom>
          <a:solidFill>
            <a:srgbClr val="120E20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⚡ INVOICE PDF FLAGSHIP SCENARIO   |   🏢 ON-PREMISE / KUBERNETES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500" b="1">
                <a:solidFill>
                  <a:srgbClr val="F8FAFC"/>
                </a:solidFill>
                <a:latin typeface="Arial"/>
              </a:defRPr>
            </a:pPr>
            <a:r>
              <a:t>SO SÁNH THỰC CHIẾN: AIRFLOW vs DAGSTER</a:t>
            </a:r>
          </a:p>
          <a:p>
            <a:pPr algn="ctr">
              <a:spcBef>
                <a:spcPts val="800"/>
              </a:spcBef>
              <a:defRPr sz="1600">
                <a:solidFill>
                  <a:srgbClr val="38BDF8"/>
                </a:solidFill>
                <a:latin typeface="Arial"/>
              </a:defRPr>
            </a:pPr>
            <a:r>
              <a:t>Chuyên đề: Xử lý Hồ sơ Hóa đơn Đa trang (Invoice PDF Processing) &amp; Chuyển dịch On-Premise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926080"/>
            <a:ext cx="4343400" cy="2834640"/>
          </a:xfrm>
          <a:prstGeom prst="roundRect">
            <a:avLst/>
          </a:prstGeom>
          <a:solidFill>
            <a:srgbClr val="120E20"/>
          </a:solidFill>
          <a:ln w="228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182880"/>
          <a:lstStyle/>
          <a:p>
            <a:pPr algn="ctr">
              <a:defRPr sz="2000" b="1">
                <a:solidFill>
                  <a:srgbClr val="38BDF8"/>
                </a:solidFill>
                <a:latin typeface="Arial"/>
              </a:defRPr>
            </a:pPr>
            <a:r>
              <a:t>🌪️ APACHE AIRFLOW</a:t>
            </a:r>
          </a:p>
          <a:p>
            <a:pPr algn="ctr">
              <a:spcBef>
                <a:spcPts val="200"/>
              </a:spcBef>
              <a:defRPr sz="1100" b="1">
                <a:solidFill>
                  <a:srgbClr val="7DD3FC"/>
                </a:solidFill>
                <a:latin typeface="Arial"/>
              </a:defRPr>
            </a:pPr>
            <a:r>
              <a:t>Workflow as Code (Task-Centric)</a:t>
            </a:r>
          </a:p>
          <a:p>
            <a:pPr>
              <a:spcBef>
                <a:spcPts val="600"/>
              </a:spcBef>
              <a:defRPr sz="1120">
                <a:solidFill>
                  <a:srgbClr val="94A3B8"/>
                </a:solidFill>
                <a:latin typeface="Arial"/>
              </a:defRPr>
            </a:pPr>
            <a:r>
              <a:t>• Hệ sinh thái 10+ năm, chuẩn mực công nghiệp</a:t>
            </a:r>
          </a:p>
          <a:p>
            <a:pPr>
              <a:spcBef>
                <a:spcPts val="600"/>
              </a:spcBef>
              <a:defRPr sz="1120">
                <a:solidFill>
                  <a:srgbClr val="94A3B8"/>
                </a:solidFill>
                <a:latin typeface="Arial"/>
              </a:defRPr>
            </a:pPr>
            <a:r>
              <a:t>• Điều phối tác vụ định kỳ &amp; tích hợp hạ tầng</a:t>
            </a:r>
          </a:p>
          <a:p>
            <a:pPr>
              <a:spcBef>
                <a:spcPts val="600"/>
              </a:spcBef>
              <a:defRPr sz="1120">
                <a:solidFill>
                  <a:srgbClr val="94A3B8"/>
                </a:solidFill>
                <a:latin typeface="Arial"/>
              </a:defRPr>
            </a:pPr>
            <a:r>
              <a:t>• KubernetesExecutor, Celery, RBAC chặt chẽ</a:t>
            </a:r>
          </a:p>
          <a:p>
            <a:pPr>
              <a:spcBef>
                <a:spcPts val="600"/>
              </a:spcBef>
              <a:defRPr sz="1120">
                <a:solidFill>
                  <a:srgbClr val="94A3B8"/>
                </a:solidFill>
                <a:latin typeface="Arial"/>
              </a:defRPr>
            </a:pPr>
            <a:r>
              <a:t>• Hàng trăm nhà cung cấp dịch vụ (Providers)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0067" y="3794760"/>
            <a:ext cx="1051560" cy="1051560"/>
          </a:xfrm>
          <a:prstGeom prst="roundRect">
            <a:avLst/>
          </a:prstGeom>
          <a:solidFill>
            <a:srgbClr val="1A1032"/>
          </a:solidFill>
          <a:ln w="279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3E8FF"/>
                </a:solidFill>
                <a:latin typeface="Arial"/>
              </a:defRPr>
            </a:pPr>
            <a:r>
              <a:t>VS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51015" y="2926080"/>
            <a:ext cx="4343400" cy="2834640"/>
          </a:xfrm>
          <a:prstGeom prst="roundRect">
            <a:avLst/>
          </a:prstGeom>
          <a:solidFill>
            <a:srgbClr val="120E20"/>
          </a:solidFill>
          <a:ln w="2286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182880"/>
          <a:lstStyle/>
          <a:p>
            <a:pPr algn="ctr">
              <a:defRPr sz="2000" b="1">
                <a:solidFill>
                  <a:srgbClr val="C084FC"/>
                </a:solidFill>
                <a:latin typeface="Arial"/>
              </a:defRPr>
            </a:pPr>
            <a:r>
              <a:t>💎 DAGSTER</a:t>
            </a:r>
          </a:p>
          <a:p>
            <a:pPr algn="ctr">
              <a:spcBef>
                <a:spcPts val="200"/>
              </a:spcBef>
              <a:defRPr sz="1100" b="1">
                <a:solidFill>
                  <a:srgbClr val="D8B4FE"/>
                </a:solidFill>
                <a:latin typeface="Arial"/>
              </a:defRPr>
            </a:pPr>
            <a:r>
              <a:t>Data as Code (Asset-Centric)</a:t>
            </a:r>
          </a:p>
          <a:p>
            <a:pPr>
              <a:spcBef>
                <a:spcPts val="600"/>
              </a:spcBef>
              <a:defRPr sz="1120">
                <a:solidFill>
                  <a:srgbClr val="94A3B8"/>
                </a:solidFill>
                <a:latin typeface="Arial"/>
              </a:defRPr>
            </a:pPr>
            <a:r>
              <a:t>• Tách rời Code Server gRPC &amp; Orchestrator</a:t>
            </a:r>
          </a:p>
          <a:p>
            <a:pPr>
              <a:spcBef>
                <a:spcPts val="600"/>
              </a:spcBef>
              <a:defRPr sz="1120">
                <a:solidFill>
                  <a:srgbClr val="94A3B8"/>
                </a:solidFill>
                <a:latin typeface="Arial"/>
              </a:defRPr>
            </a:pPr>
            <a:r>
              <a:t>• Tích hợp kiểm định dữ liệu (Asset Checks)</a:t>
            </a:r>
          </a:p>
          <a:p>
            <a:pPr>
              <a:spcBef>
                <a:spcPts val="600"/>
              </a:spcBef>
              <a:defRPr sz="1120">
                <a:solidFill>
                  <a:srgbClr val="94A3B8"/>
                </a:solidFill>
                <a:latin typeface="Arial"/>
              </a:defRPr>
            </a:pPr>
            <a:r>
              <a:t>• Kiểm thử in-memory siêu tốc trong CI/CD (~0.12s)</a:t>
            </a:r>
          </a:p>
          <a:p>
            <a:pPr>
              <a:spcBef>
                <a:spcPts val="600"/>
              </a:spcBef>
              <a:defRPr sz="1120">
                <a:solidFill>
                  <a:srgbClr val="94A3B8"/>
                </a:solidFill>
                <a:latin typeface="Arial"/>
              </a:defRPr>
            </a:pPr>
            <a:r>
              <a:t>• Tự động truy vết Data Lineage &amp; I/O Manager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45920" y="6016752"/>
            <a:ext cx="8899855" cy="438912"/>
          </a:xfrm>
          <a:prstGeom prst="roundRect">
            <a:avLst/>
          </a:prstGeom>
          <a:solidFill>
            <a:srgbClr val="120E20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94A3B8"/>
                </a:solidFill>
                <a:latin typeface="Arial"/>
              </a:defRPr>
            </a:pPr>
            <a:r>
              <a:t>Khán giả: CTO, Solution Architect, Tech Lead, Data Platform Team   |   Thời lượng: 35-45 phút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5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2624328" cy="292608"/>
          </a:xfrm>
          <a:prstGeom prst="roundRect">
            <a:avLst/>
          </a:prstGeom>
          <a:solidFill>
            <a:srgbClr val="120E20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>
              <a:defRPr sz="950" b="1">
                <a:solidFill>
                  <a:srgbClr val="C084FC"/>
                </a:solidFill>
                <a:latin typeface="Arial"/>
              </a:defRPr>
            </a:pPr>
            <a:r>
              <a:t>HẠ TẦNG CLOUD HIỆN TẠI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Arial"/>
              </a:defRPr>
            </a:pPr>
            <a:r>
              <a:t>AWS Step Functions &amp; Thách Thức Chuyển Đổi</a:t>
            </a:r>
          </a:p>
          <a:p>
            <a:pPr>
              <a:spcBef>
                <a:spcPts val="300"/>
              </a:spcBef>
              <a:defRPr sz="1150">
                <a:solidFill>
                  <a:srgbClr val="38BDF8"/>
                </a:solidFill>
                <a:latin typeface="Arial"/>
              </a:defRPr>
            </a:pPr>
            <a:r>
              <a:t>Đánh giá hiện trạng hạ tầng Cloud hiện tại và động lực di chuyển On-Premise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36192"/>
            <a:ext cx="5166360" cy="4846320"/>
          </a:xfrm>
          <a:prstGeom prst="roundRect">
            <a:avLst/>
          </a:prstGeom>
          <a:solidFill>
            <a:srgbClr val="120E20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19456" bIns="182880"/>
          <a:lstStyle/>
          <a:p>
            <a:pPr algn="ctr">
              <a:defRPr sz="1650" b="1">
                <a:solidFill>
                  <a:srgbClr val="22C55E"/>
                </a:solidFill>
                <a:latin typeface="Arial"/>
              </a:defRPr>
            </a:pPr>
            <a:r>
              <a:t>✅ LỢI THẾ HIỆN TẠI (PROS)</a:t>
            </a:r>
          </a:p>
          <a:p>
            <a:pPr>
              <a:spcBef>
                <a:spcPts val="1100"/>
              </a:spcBef>
              <a:defRPr b="1" sz="1200">
                <a:solidFill>
                  <a:srgbClr val="F8FAFC"/>
                </a:solidFill>
                <a:latin typeface="Arial"/>
              </a:defRPr>
            </a:pPr>
            <a:r>
              <a:t>• Hoàn toàn Serverless: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Không tốn công vận hành hạ tầng máy chủ hay cụm cluster.</a:t>
            </a:r>
          </a:p>
          <a:p>
            <a:pPr>
              <a:spcBef>
                <a:spcPts val="1100"/>
              </a:spcBef>
              <a:defRPr b="1" sz="1200">
                <a:solidFill>
                  <a:srgbClr val="F8FAFC"/>
                </a:solidFill>
                <a:latin typeface="Arial"/>
              </a:defRPr>
            </a:pPr>
            <a:r>
              <a:t>• Auto-Scaling tự động: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Tự động scale theo tải khi có hàng nghìn request đổ về.</a:t>
            </a:r>
          </a:p>
          <a:p>
            <a:pPr>
              <a:spcBef>
                <a:spcPts val="1100"/>
              </a:spcBef>
              <a:defRPr b="1" sz="1200">
                <a:solidFill>
                  <a:srgbClr val="F8FAFC"/>
                </a:solidFill>
                <a:latin typeface="Arial"/>
              </a:defRPr>
            </a:pPr>
            <a:r>
              <a:t>• Pay-as-you-go: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Chỉ trả phí dựa trên số lượng request và chuyển trạng thái thực tế.</a:t>
            </a:r>
          </a:p>
          <a:p>
            <a:pPr>
              <a:spcBef>
                <a:spcPts val="1100"/>
              </a:spcBef>
              <a:defRPr b="1" sz="1200">
                <a:solidFill>
                  <a:srgbClr val="F8FAFC"/>
                </a:solidFill>
                <a:latin typeface="Arial"/>
              </a:defRPr>
            </a:pPr>
            <a:r>
              <a:t>• Tích hợp sâu hệ sinh thái AWS: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Kết nối trực tiếp Lambda, S3, DynamoDB, SQS mượt mà.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3815" y="1536192"/>
            <a:ext cx="5166360" cy="4846320"/>
          </a:xfrm>
          <a:prstGeom prst="roundRect">
            <a:avLst/>
          </a:prstGeom>
          <a:solidFill>
            <a:srgbClr val="120E20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19456" bIns="182880"/>
          <a:lstStyle/>
          <a:p>
            <a:pPr algn="ctr">
              <a:defRPr sz="1650" b="1">
                <a:solidFill>
                  <a:srgbClr val="F43F5E"/>
                </a:solidFill>
                <a:latin typeface="Arial"/>
              </a:defRPr>
            </a:pPr>
            <a:r>
              <a:t>❌ HẠN CHẾ &amp; RỦI RO (CONS)</a:t>
            </a:r>
          </a:p>
          <a:p>
            <a:pPr>
              <a:spcBef>
                <a:spcPts val="1100"/>
              </a:spcBef>
              <a:defRPr b="1" sz="1200">
                <a:solidFill>
                  <a:srgbClr val="F8FAFC"/>
                </a:solidFill>
                <a:latin typeface="Arial"/>
              </a:defRPr>
            </a:pPr>
            <a:r>
              <a:t>• Khó khăn khi Test &amp; Debug Local: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Mô phỏng Step Function ở local rất phức tạp, chu kỳ phản hồi phát triển chậm.</a:t>
            </a:r>
          </a:p>
          <a:p>
            <a:pPr>
              <a:spcBef>
                <a:spcPts val="1100"/>
              </a:spcBef>
              <a:defRPr b="1" sz="1200">
                <a:solidFill>
                  <a:srgbClr val="F8FAFC"/>
                </a:solidFill>
                <a:latin typeface="Arial"/>
              </a:defRPr>
            </a:pPr>
            <a:r>
              <a:t>• Chi phí tăng vọt khi Scale tải lớn: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Chi phí state transition rất đắt đỏ khi xử lý hàng triệu hóa đơn/tháng.</a:t>
            </a:r>
          </a:p>
          <a:p>
            <a:pPr>
              <a:spcBef>
                <a:spcPts val="1100"/>
              </a:spcBef>
              <a:defRPr b="1" sz="1200">
                <a:solidFill>
                  <a:srgbClr val="F8FAFC"/>
                </a:solidFill>
                <a:latin typeface="Arial"/>
              </a:defRPr>
            </a:pPr>
            <a:r>
              <a:t>• Rủi ro Vendor Lock-in: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Bị ràng buộc mã nguồn vào dịch vụ AWS, khó chuyển sang Cloud khác.</a:t>
            </a:r>
          </a:p>
          <a:p>
            <a:pPr>
              <a:spcBef>
                <a:spcPts val="1100"/>
              </a:spcBef>
              <a:defRPr b="1" sz="1200">
                <a:solidFill>
                  <a:srgbClr val="F8FAFC"/>
                </a:solidFill>
                <a:latin typeface="Arial"/>
              </a:defRPr>
            </a:pPr>
            <a:r>
              <a:t>• Tuân thủ On-Premise &amp; Bảo mật: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Khách hàng tài chính/ngân hàng yêu cầu dữ liệu nhạy cảm phải xử lý nội bộ.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5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2221992" cy="292608"/>
          </a:xfrm>
          <a:prstGeom prst="roundRect">
            <a:avLst/>
          </a:prstGeom>
          <a:solidFill>
            <a:srgbClr val="120E20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>
              <a:defRPr sz="950" b="1">
                <a:solidFill>
                  <a:srgbClr val="C084FC"/>
                </a:solidFill>
                <a:latin typeface="Arial"/>
              </a:defRPr>
            </a:pPr>
            <a:r>
              <a:t>BÀI TOÁN NGHIỆP VỤ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Arial"/>
              </a:defRPr>
            </a:pPr>
            <a:r>
              <a:t>Bài Toán Tự Động Bóc Tách &amp; Duyệt Hóa Đơn</a:t>
            </a:r>
          </a:p>
          <a:p>
            <a:pPr>
              <a:spcBef>
                <a:spcPts val="300"/>
              </a:spcBef>
              <a:defRPr sz="1150">
                <a:solidFill>
                  <a:srgbClr val="38BDF8"/>
                </a:solidFill>
                <a:latin typeface="Arial"/>
              </a:defRPr>
            </a:pPr>
            <a:r>
              <a:t>Nghiệp vụ 4 loại hóa đơn &amp; Luồng kiểm toán tài chính (PDF -&gt; Data)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36192"/>
            <a:ext cx="4754880" cy="4846320"/>
          </a:xfrm>
          <a:prstGeom prst="roundRect">
            <a:avLst/>
          </a:prstGeom>
          <a:solidFill>
            <a:srgbClr val="120E2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201168" bIns="164592"/>
          <a:lstStyle/>
          <a:p>
            <a:pPr algn="ctr">
              <a:defRPr sz="1450" b="1">
                <a:solidFill>
                  <a:srgbClr val="38BDF8"/>
                </a:solidFill>
                <a:latin typeface="Arial"/>
              </a:defRPr>
            </a:pPr>
            <a:r>
              <a:t>📋 QUY TRÌNH NGHIỆP VỤ &amp; KIỂM TOÁN</a:t>
            </a:r>
          </a:p>
          <a:p>
            <a:pPr>
              <a:spcBef>
                <a:spcPts val="800"/>
              </a:spcBef>
              <a:defRPr b="1" sz="1150">
                <a:solidFill>
                  <a:srgbClr val="F8FAFC"/>
                </a:solidFill>
                <a:latin typeface="Arial"/>
              </a:defRPr>
            </a:pPr>
            <a:r>
              <a:t>1. Phân loại 4 trang hóa đơn (4 Types):</a:t>
            </a:r>
          </a:p>
          <a:p>
            <a:pPr>
              <a:spcBef>
                <a:spcPts val="200"/>
              </a:spcBef>
              <a:defRPr sz="980">
                <a:solidFill>
                  <a:srgbClr val="94A3B8"/>
                </a:solidFill>
                <a:latin typeface="Arial"/>
              </a:defRPr>
            </a:pPr>
            <a:r>
              <a:t>• Trang 1 (VAT): Lấy MST, Tiền hàng, Tiền thuế GTGT 10%.</a:t>
            </a:r>
          </a:p>
          <a:p>
            <a:pPr>
              <a:spcBef>
                <a:spcPts val="200"/>
              </a:spcBef>
              <a:defRPr sz="980">
                <a:solidFill>
                  <a:srgbClr val="94A3B8"/>
                </a:solidFill>
                <a:latin typeface="Arial"/>
              </a:defRPr>
            </a:pPr>
            <a:r>
              <a:t>• Trang 2 (Utility): Lấy Customer ID đối chiếu tiền điện/nước.</a:t>
            </a:r>
          </a:p>
          <a:p>
            <a:pPr>
              <a:spcBef>
                <a:spcPts val="200"/>
              </a:spcBef>
              <a:defRPr sz="980">
                <a:solidFill>
                  <a:srgbClr val="94A3B8"/>
                </a:solidFill>
                <a:latin typeface="Arial"/>
              </a:defRPr>
            </a:pPr>
            <a:r>
              <a:t>• Trang 3 (Travel): Lấy Employee ID để hoàn ứng công tác.</a:t>
            </a:r>
          </a:p>
          <a:p>
            <a:pPr>
              <a:spcBef>
                <a:spcPts val="200"/>
              </a:spcBef>
              <a:defRPr sz="980">
                <a:solidFill>
                  <a:srgbClr val="94A3B8"/>
                </a:solidFill>
                <a:latin typeface="Arial"/>
              </a:defRPr>
            </a:pPr>
            <a:r>
              <a:t>• Trang 4 (Retail): ⚠️ Gắn cờ cảnh báo: Không duyệt khấu trừ thuế!</a:t>
            </a:r>
          </a:p>
          <a:p>
            <a:pPr>
              <a:spcBef>
                <a:spcPts val="800"/>
              </a:spcBef>
              <a:defRPr b="1" sz="1150">
                <a:solidFill>
                  <a:srgbClr val="F8FAFC"/>
                </a:solidFill>
                <a:latin typeface="Arial"/>
              </a:defRPr>
            </a:pPr>
            <a:r>
              <a:t>2. Tiêu chuẩn kiểm toán (Validation Rules):</a:t>
            </a:r>
          </a:p>
          <a:p>
            <a:pPr>
              <a:spcBef>
                <a:spcPts val="200"/>
              </a:spcBef>
              <a:defRPr sz="980">
                <a:solidFill>
                  <a:srgbClr val="94A3B8"/>
                </a:solidFill>
                <a:latin typeface="Arial"/>
              </a:defRPr>
            </a:pPr>
            <a:r>
              <a:t>• Số học: Tiền hàng + Tiền thuế có khớp Tổng tiền không?</a:t>
            </a:r>
          </a:p>
          <a:p>
            <a:pPr>
              <a:spcBef>
                <a:spcPts val="200"/>
              </a:spcBef>
              <a:defRPr sz="980">
                <a:solidFill>
                  <a:srgbClr val="94A3B8"/>
                </a:solidFill>
                <a:latin typeface="Arial"/>
              </a:defRPr>
            </a:pPr>
            <a:r>
              <a:t>• Hạn mức: Tổng tiền toàn bộ hóa đơn có vượt 100M VNĐ không?</a:t>
            </a:r>
          </a:p>
          <a:p>
            <a:pPr>
              <a:spcBef>
                <a:spcPts val="800"/>
              </a:spcBef>
              <a:defRPr b="1" sz="1150">
                <a:solidFill>
                  <a:srgbClr val="F8FAFC"/>
                </a:solidFill>
                <a:latin typeface="Arial"/>
              </a:defRPr>
            </a:pPr>
            <a:r>
              <a:t>3. Kết quả phê duyệt (Approval):</a:t>
            </a:r>
          </a:p>
          <a:p>
            <a:pPr>
              <a:spcBef>
                <a:spcPts val="200"/>
              </a:spcBef>
              <a:defRPr sz="980">
                <a:solidFill>
                  <a:srgbClr val="94A3B8"/>
                </a:solidFill>
                <a:latin typeface="Arial"/>
              </a:defRPr>
            </a:pPr>
            <a:r>
              <a:t>• ✅ Đạt chuẩn: Duyệt &amp; Lưu vào Database / Ledger.</a:t>
            </a:r>
          </a:p>
          <a:p>
            <a:pPr>
              <a:spcBef>
                <a:spcPts val="200"/>
              </a:spcBef>
              <a:defRPr sz="980">
                <a:solidFill>
                  <a:srgbClr val="94A3B8"/>
                </a:solidFill>
                <a:latin typeface="Arial"/>
              </a:defRPr>
            </a:pPr>
            <a:r>
              <a:t>• ❌ Lỗi / Vượt hạn mức: Dừng ngay lập tức (Hard Stop)!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0" y="1536192"/>
            <a:ext cx="5745175" cy="4846320"/>
          </a:xfrm>
          <a:prstGeom prst="roundRect">
            <a:avLst/>
          </a:prstGeom>
          <a:solidFill>
            <a:srgbClr val="0C0A18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0227" y="1719072"/>
            <a:ext cx="3474720" cy="402336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📄 Input PDF (4 Pages)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04707" y="2139696"/>
            <a:ext cx="365760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1300" b="1">
                <a:solidFill>
                  <a:srgbClr val="94A3B8"/>
                </a:solidFill>
                <a:latin typeface="Arial"/>
              </a:defRPr>
            </a:pPr>
            <a: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0227" y="2395728"/>
            <a:ext cx="3474720" cy="402336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✂️ Split Pages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04707" y="2816352"/>
            <a:ext cx="365760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1300" b="1">
                <a:solidFill>
                  <a:srgbClr val="94A3B8"/>
                </a:solidFill>
                <a:latin typeface="Arial"/>
              </a:defRPr>
            </a:pPr>
            <a: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26683" y="3072384"/>
            <a:ext cx="1261872" cy="868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50" b="1">
                <a:solidFill>
                  <a:srgbClr val="0284C7"/>
                </a:solidFill>
                <a:latin typeface="Arial"/>
              </a:defRPr>
            </a:pPr>
            <a:r>
              <a:t>VAT Invoice –</a:t>
            </a:r>
          </a:p>
          <a:p>
            <a:pPr algn="ctr">
              <a:spcBef>
                <a:spcPts val="200"/>
              </a:spcBef>
              <a:defRPr sz="850">
                <a:solidFill>
                  <a:srgbClr val="0F172A"/>
                </a:solidFill>
                <a:latin typeface="Arial"/>
              </a:defRPr>
            </a:pPr>
            <a:r>
              <a:t>Tax ID, Net &amp; VAT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79995" y="3072384"/>
            <a:ext cx="1261872" cy="868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50" b="1">
                <a:solidFill>
                  <a:srgbClr val="0284C7"/>
                </a:solidFill>
                <a:latin typeface="Arial"/>
              </a:defRPr>
            </a:pPr>
            <a:r>
              <a:t>Utility Invoice –</a:t>
            </a:r>
          </a:p>
          <a:p>
            <a:pPr algn="ctr">
              <a:spcBef>
                <a:spcPts val="200"/>
              </a:spcBef>
              <a:defRPr sz="850">
                <a:solidFill>
                  <a:srgbClr val="0F172A"/>
                </a:solidFill>
                <a:latin typeface="Arial"/>
              </a:defRPr>
            </a:pPr>
            <a:r>
              <a:t>Customer 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33307" y="3072384"/>
            <a:ext cx="1261872" cy="868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50" b="1">
                <a:solidFill>
                  <a:srgbClr val="0284C7"/>
                </a:solidFill>
                <a:latin typeface="Arial"/>
              </a:defRPr>
            </a:pPr>
            <a:r>
              <a:t>Travel Expense –</a:t>
            </a:r>
          </a:p>
          <a:p>
            <a:pPr algn="ctr">
              <a:spcBef>
                <a:spcPts val="200"/>
              </a:spcBef>
              <a:defRPr sz="850">
                <a:solidFill>
                  <a:srgbClr val="0F172A"/>
                </a:solidFill>
                <a:latin typeface="Arial"/>
              </a:defRPr>
            </a:pPr>
            <a:r>
              <a:t>Employee 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86619" y="3072384"/>
            <a:ext cx="1261872" cy="868680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50" b="1">
                <a:solidFill>
                  <a:srgbClr val="BE123C"/>
                </a:solidFill>
                <a:latin typeface="Arial"/>
              </a:defRPr>
            </a:pPr>
            <a:r>
              <a:t>Retail Receipt –</a:t>
            </a:r>
          </a:p>
          <a:p>
            <a:pPr algn="ctr">
              <a:spcBef>
                <a:spcPts val="200"/>
              </a:spcBef>
              <a:defRPr sz="850">
                <a:solidFill>
                  <a:srgbClr val="991B1B"/>
                </a:solidFill>
                <a:latin typeface="Arial"/>
              </a:defRPr>
            </a:pPr>
            <a:r>
              <a:t>⚠️ Reject Tax Deduct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4707" y="3959352"/>
            <a:ext cx="365760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1300" b="1">
                <a:solidFill>
                  <a:srgbClr val="94A3B8"/>
                </a:solidFill>
                <a:latin typeface="Arial"/>
              </a:defRPr>
            </a:pPr>
            <a: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72987" y="4224528"/>
            <a:ext cx="5029200" cy="658368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1">
                <a:solidFill>
                  <a:srgbClr val="78350F"/>
                </a:solidFill>
                <a:latin typeface="Arial"/>
              </a:defRPr>
            </a:pPr>
            <a:r>
              <a:t>🔍 VALIDATION –</a:t>
            </a:r>
          </a:p>
          <a:p>
            <a:pPr algn="ctr">
              <a:spcBef>
                <a:spcPts val="200"/>
              </a:spcBef>
              <a:defRPr sz="950">
                <a:solidFill>
                  <a:srgbClr val="92400E"/>
                </a:solidFill>
                <a:latin typeface="Arial"/>
              </a:defRPr>
            </a:pPr>
            <a:r>
              <a:t>Math check: Net + VAT = Total?   |   Within budget: &lt;= 100M VND?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707" y="4901184"/>
            <a:ext cx="365760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1300" b="1">
                <a:solidFill>
                  <a:srgbClr val="94A3B8"/>
                </a:solidFill>
                <a:latin typeface="Arial"/>
              </a:defRPr>
            </a:pPr>
            <a: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04407" y="5157216"/>
            <a:ext cx="2423160" cy="896112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1">
                <a:solidFill>
                  <a:srgbClr val="14532D"/>
                </a:solidFill>
                <a:latin typeface="Arial"/>
              </a:defRPr>
            </a:pPr>
            <a:r>
              <a:t>✅ APPROVED (Pass)</a:t>
            </a:r>
          </a:p>
          <a:p>
            <a:pPr algn="ctr">
              <a:spcBef>
                <a:spcPts val="200"/>
              </a:spcBef>
              <a:defRPr sz="950">
                <a:solidFill>
                  <a:srgbClr val="166534"/>
                </a:solidFill>
                <a:latin typeface="Arial"/>
              </a:defRPr>
            </a:pPr>
            <a:r>
              <a:t>Write to Database / Ledger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47607" y="5157216"/>
            <a:ext cx="2423160" cy="896112"/>
          </a:xfrm>
          <a:prstGeom prst="roundRect">
            <a:avLst/>
          </a:prstGeom>
          <a:solidFill>
            <a:srgbClr val="FEE2E2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1">
                <a:solidFill>
                  <a:srgbClr val="991B1B"/>
                </a:solidFill>
                <a:latin typeface="Arial"/>
              </a:defRPr>
            </a:pPr>
            <a:r>
              <a:t>❌ REJECTED (Fail)</a:t>
            </a:r>
          </a:p>
          <a:p>
            <a:pPr algn="ctr">
              <a:spcBef>
                <a:spcPts val="200"/>
              </a:spcBef>
              <a:defRPr sz="950">
                <a:solidFill>
                  <a:srgbClr val="7F1D1D"/>
                </a:solidFill>
                <a:latin typeface="Arial"/>
              </a:defRPr>
            </a:pPr>
            <a:r>
              <a:t>Hard Stop Pipeline!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5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2020824" cy="292608"/>
          </a:xfrm>
          <a:prstGeom prst="roundRect">
            <a:avLst/>
          </a:prstGeom>
          <a:solidFill>
            <a:srgbClr val="120E20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>
              <a:defRPr sz="950" b="1">
                <a:solidFill>
                  <a:srgbClr val="C084FC"/>
                </a:solidFill>
                <a:latin typeface="Arial"/>
              </a:defRPr>
            </a:pPr>
            <a:r>
              <a:t>TRIẾT LÝ CỐT LÕI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Arial"/>
              </a:defRPr>
            </a:pPr>
            <a:r>
              <a:t>Đối Chiếu Kiến Trúc: Task-Centric vs Asset-Centric</a:t>
            </a:r>
          </a:p>
          <a:p>
            <a:pPr>
              <a:spcBef>
                <a:spcPts val="300"/>
              </a:spcBef>
              <a:defRPr sz="1150">
                <a:solidFill>
                  <a:srgbClr val="38BDF8"/>
                </a:solidFill>
                <a:latin typeface="Arial"/>
              </a:defRPr>
            </a:pPr>
            <a:r>
              <a:t>Chuỗi hành động thực thi (Airflow Tasks) vs Mạng lưới tài sản dữ liệu (Dagster Assets)</a:t>
            </a:r>
          </a:p>
        </p:txBody>
      </p:sp>
      <p:pic>
        <p:nvPicPr>
          <p:cNvPr id="5" name="Picture 4" descr="mermaid_diagram_4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89888"/>
            <a:ext cx="11185855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5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2121408" cy="292608"/>
          </a:xfrm>
          <a:prstGeom prst="roundRect">
            <a:avLst/>
          </a:prstGeom>
          <a:solidFill>
            <a:srgbClr val="120E20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>
              <a:defRPr sz="950" b="1">
                <a:solidFill>
                  <a:srgbClr val="C084FC"/>
                </a:solidFill>
                <a:latin typeface="Arial"/>
              </a:defRPr>
            </a:pPr>
            <a:r>
              <a:t>DEEP DIVE AIRFLOW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Arial"/>
              </a:defRPr>
            </a:pPr>
            <a:r>
              <a:t>Vòng Đời Thực Thi 1 Task Trong Apache Airflow</a:t>
            </a:r>
          </a:p>
          <a:p>
            <a:pPr>
              <a:spcBef>
                <a:spcPts val="300"/>
              </a:spcBef>
              <a:defRPr sz="1150">
                <a:solidFill>
                  <a:srgbClr val="38BDF8"/>
                </a:solidFill>
                <a:latin typeface="Arial"/>
              </a:defRPr>
            </a:pPr>
            <a:r>
              <a:t>Chu trình thực thi 6 bước &amp; Các điểm nghẽn kiến trúc (DAG Parsing Loop, DB Hits, XCom DB)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36192"/>
            <a:ext cx="5852160" cy="4846320"/>
          </a:xfrm>
          <a:prstGeom prst="roundRect">
            <a:avLst/>
          </a:prstGeom>
          <a:solidFill>
            <a:srgbClr val="120E2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54864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⚙️ AIRFLOW TASK EXECUTION (Chu Trình 6 Bước)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1956816"/>
            <a:ext cx="5394960" cy="438912"/>
          </a:xfrm>
          <a:prstGeom prst="roundRect">
            <a:avLst/>
          </a:prstGeom>
          <a:solidFill>
            <a:srgbClr val="1E1B4B"/>
          </a:solidFill>
          <a:ln w="1524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000" b="1">
                <a:solidFill>
                  <a:srgbClr val="F8FAFC"/>
                </a:solidFill>
                <a:latin typeface="Arial"/>
              </a:defRPr>
            </a:pPr>
            <a:r>
              <a:t>📁 1. Write Code File</a:t>
            </a:r>
          </a:p>
          <a:p>
            <a:pPr algn="ctr">
              <a:spcBef>
                <a:spcPts val="200"/>
              </a:spcBef>
              <a:defRPr sz="800">
                <a:solidFill>
                  <a:srgbClr val="94A3B8"/>
                </a:solidFill>
                <a:latin typeface="Arial"/>
              </a:defRPr>
            </a:pPr>
            <a:r>
              <a:t>(dags/invoice_dag.py)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414016"/>
            <a:ext cx="365760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1300" b="1">
                <a:solidFill>
                  <a:srgbClr val="38BDF8"/>
                </a:solidFill>
                <a:latin typeface="Arial"/>
              </a:defRPr>
            </a:pPr>
            <a: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651760"/>
            <a:ext cx="5394960" cy="438912"/>
          </a:xfrm>
          <a:prstGeom prst="roundRect">
            <a:avLst/>
          </a:prstGeom>
          <a:solidFill>
            <a:srgbClr val="4C0519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000" b="1">
                <a:solidFill>
                  <a:srgbClr val="F8FAFC"/>
                </a:solidFill>
                <a:latin typeface="Arial"/>
              </a:defRPr>
            </a:pPr>
            <a:r>
              <a:t>🔄 2. DAG Parsing Loop (Mỗi 30 Giây)</a:t>
            </a:r>
          </a:p>
          <a:p>
            <a:pPr algn="ctr">
              <a:spcBef>
                <a:spcPts val="200"/>
              </a:spcBef>
              <a:defRPr sz="800">
                <a:solidFill>
                  <a:srgbClr val="94A3B8"/>
                </a:solidFill>
                <a:latin typeface="Arial"/>
              </a:defRPr>
            </a:pPr>
            <a:r>
              <a:t>(Scheduler re-compiles Python from disk - CPU Overhead)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108960"/>
            <a:ext cx="365760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1300" b="1">
                <a:solidFill>
                  <a:srgbClr val="38BDF8"/>
                </a:solidFill>
                <a:latin typeface="Arial"/>
              </a:defRPr>
            </a:pPr>
            <a: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3346704"/>
            <a:ext cx="5394960" cy="438912"/>
          </a:xfrm>
          <a:prstGeom prst="roundRect">
            <a:avLst/>
          </a:prstGeom>
          <a:solidFill>
            <a:srgbClr val="4C0519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000" b="1">
                <a:solidFill>
                  <a:srgbClr val="F8FAFC"/>
                </a:solidFill>
                <a:latin typeface="Arial"/>
              </a:defRPr>
            </a:pPr>
            <a:r>
              <a:t>🗄️ 3. Task State Transitions (DB Hits)</a:t>
            </a:r>
          </a:p>
          <a:p>
            <a:pPr algn="ctr">
              <a:spcBef>
                <a:spcPts val="200"/>
              </a:spcBef>
              <a:defRPr sz="800">
                <a:solidFill>
                  <a:srgbClr val="94A3B8"/>
                </a:solidFill>
                <a:latin typeface="Arial"/>
              </a:defRPr>
            </a:pPr>
            <a:r>
              <a:t>[NONE] ➔ [SCHEDULED] ➔ [QUEUED] ➔ UPDATE task_instance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803904"/>
            <a:ext cx="365760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1300" b="1">
                <a:solidFill>
                  <a:srgbClr val="38BDF8"/>
                </a:solidFill>
                <a:latin typeface="Arial"/>
              </a:defRPr>
            </a:pPr>
            <a: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4041648"/>
            <a:ext cx="5394960" cy="438912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000" b="1">
                <a:solidFill>
                  <a:srgbClr val="F8FAFC"/>
                </a:solidFill>
                <a:latin typeface="Arial"/>
              </a:defRPr>
            </a:pPr>
            <a:r>
              <a:t>⚡ 4. Worker Pulls &amp; Runs Task</a:t>
            </a:r>
          </a:p>
          <a:p>
            <a:pPr algn="ctr">
              <a:spcBef>
                <a:spcPts val="200"/>
              </a:spcBef>
              <a:defRPr sz="800">
                <a:solidFill>
                  <a:srgbClr val="94A3B8"/>
                </a:solidFill>
                <a:latin typeface="Arial"/>
              </a:defRPr>
            </a:pPr>
            <a:r>
              <a:t>(State: [RUNNING] trên Celery Worker / K8s Pod)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498848"/>
            <a:ext cx="365760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1300" b="1">
                <a:solidFill>
                  <a:srgbClr val="38BDF8"/>
                </a:solidFill>
                <a:latin typeface="Arial"/>
              </a:defRPr>
            </a:pPr>
            <a: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4736592"/>
            <a:ext cx="5394960" cy="438912"/>
          </a:xfrm>
          <a:prstGeom prst="roundRect">
            <a:avLst/>
          </a:prstGeom>
          <a:solidFill>
            <a:srgbClr val="4C0519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000" b="1">
                <a:solidFill>
                  <a:srgbClr val="F8FAFC"/>
                </a:solidFill>
                <a:latin typeface="Arial"/>
              </a:defRPr>
            </a:pPr>
            <a:r>
              <a:t>📦 5. Data Exchange via XCom DB</a:t>
            </a:r>
          </a:p>
          <a:p>
            <a:pPr algn="ctr">
              <a:spcBef>
                <a:spcPts val="200"/>
              </a:spcBef>
              <a:defRPr sz="800">
                <a:solidFill>
                  <a:srgbClr val="94A3B8"/>
                </a:solidFill>
                <a:latin typeface="Arial"/>
              </a:defRPr>
            </a:pPr>
            <a:r>
              <a:t>INSERT INTO xcom VALUES (...) (JSON/Pickle Payloads in Postgres)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5193792"/>
            <a:ext cx="365760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1300" b="1">
                <a:solidFill>
                  <a:srgbClr val="38BDF8"/>
                </a:solidFill>
                <a:latin typeface="Arial"/>
              </a:defRPr>
            </a:pPr>
            <a: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5431536"/>
            <a:ext cx="5394960" cy="438912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000" b="1">
                <a:solidFill>
                  <a:srgbClr val="F8FAFC"/>
                </a:solidFill>
                <a:latin typeface="Arial"/>
              </a:defRPr>
            </a:pPr>
            <a:r>
              <a:t>💻 6. Webserver DB Polling</a:t>
            </a:r>
          </a:p>
          <a:p>
            <a:pPr algn="ctr">
              <a:spcBef>
                <a:spcPts val="200"/>
              </a:spcBef>
              <a:defRPr sz="800">
                <a:solidFill>
                  <a:srgbClr val="94A3B8"/>
                </a:solidFill>
                <a:latin typeface="Arial"/>
              </a:defRPr>
            </a:pPr>
            <a:r>
              <a:t>SELECT state ➔ Tô màu ô Xanh/Đỏ (⚠️ MÙ DỮ LIỆU)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1536192"/>
            <a:ext cx="4556455" cy="10972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91440"/>
          <a:lstStyle/>
          <a:p>
            <a:pPr algn="ctr">
              <a:defRPr sz="1100" b="1">
                <a:solidFill>
                  <a:srgbClr val="F59E0B"/>
                </a:solidFill>
                <a:latin typeface="Arial"/>
              </a:defRPr>
            </a:pPr>
            <a:r>
              <a:t>🔄 1. Bị Ép Re-Parse Liên Tục (30s/lần)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Scheduler không lưu cấu trúc trên RAM mà liên tục đọc và biên dịch lại code Python. Lỡ import OCR nặng ngoài hàm ➔ Treo 100% CPU toàn cụm.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2779776"/>
            <a:ext cx="4556455" cy="10972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91440"/>
          <a:lstStyle/>
          <a:p>
            <a:pPr algn="ctr">
              <a:defRPr sz="1100" b="1">
                <a:solidFill>
                  <a:srgbClr val="F43F5E"/>
                </a:solidFill>
                <a:latin typeface="Arial"/>
              </a:defRPr>
            </a:pPr>
            <a:r>
              <a:t>🗄️ 2. State Machine Bắn Query DB Dồn Dập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Mỗi bước chuyển trạng thái (None ➔ Scheduled ➔ Queued ➔ Running ➔ Success) đều UPDATE Postgres ➔ Nguy cơ lock bảng khi tải lớn.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3720" y="4023360"/>
            <a:ext cx="4556455" cy="10972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91440"/>
          <a:lstStyle/>
          <a:p>
            <a:pPr algn="ctr">
              <a:defRPr sz="1100" b="1">
                <a:solidFill>
                  <a:srgbClr val="A855F7"/>
                </a:solidFill>
                <a:latin typeface="Arial"/>
              </a:defRPr>
            </a:pPr>
            <a:r>
              <a:t>📦 3. Ép Nạp Dữ Liệu XCom Thẳng Vào Postgres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Khi task return, Airflow serialize rồi INSERT INTO xcom. Dữ liệu lớn (ảnh hóa đơn, DataFrame) làm phình to DB và nghẽn I/O hệ thống.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03720" y="5266944"/>
            <a:ext cx="4556455" cy="10972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91440"/>
          <a:lstStyle/>
          <a:p>
            <a:pPr algn="ctr">
              <a:defRPr sz="1100" b="1">
                <a:solidFill>
                  <a:srgbClr val="F43F5E"/>
                </a:solidFill>
                <a:latin typeface="Arial"/>
              </a:defRPr>
            </a:pPr>
            <a:r>
              <a:t>👁️ 4. Kết Thúc Bằng 'Mù Dữ Liệu' Trên UI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Webserver chỉ đọc DB để tô màu ô vuông Xanh/Đỏ. Kỹ sư hoàn toàn không biết bên trong có bao nhiêu tiền, bao nhiêu hóa đơn nếu không mò log.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5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2121408" cy="292608"/>
          </a:xfrm>
          <a:prstGeom prst="roundRect">
            <a:avLst/>
          </a:prstGeom>
          <a:solidFill>
            <a:srgbClr val="120E20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>
              <a:defRPr sz="950" b="1">
                <a:solidFill>
                  <a:srgbClr val="C084FC"/>
                </a:solidFill>
                <a:latin typeface="Arial"/>
              </a:defRPr>
            </a:pPr>
            <a:r>
              <a:t>DEEP DIVE DAGSTER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Arial"/>
              </a:defRPr>
            </a:pPr>
            <a:r>
              <a:t>Kiến Trúc Điều Phối Hiện Đại Trong Dagster</a:t>
            </a:r>
          </a:p>
          <a:p>
            <a:pPr>
              <a:spcBef>
                <a:spcPts val="300"/>
              </a:spcBef>
              <a:defRPr sz="1150">
                <a:solidFill>
                  <a:srgbClr val="38BDF8"/>
                </a:solidFill>
                <a:latin typeface="Arial"/>
              </a:defRPr>
            </a:pPr>
            <a:r>
              <a:t>Chu trình phân tách 6 bước (gRPC Code Server, Ephemeral Worker, I/O Manager, Khiên Asset Checks)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36192"/>
            <a:ext cx="5852160" cy="4846320"/>
          </a:xfrm>
          <a:prstGeom prst="roundRect">
            <a:avLst/>
          </a:prstGeom>
          <a:solidFill>
            <a:srgbClr val="120E20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54864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C084FC"/>
                </a:solidFill>
                <a:latin typeface="Arial"/>
              </a:defRPr>
            </a:pPr>
            <a:r>
              <a:t>💎 DAGSTER ASSET MATERIALIZATION (Chu Trình Phân Tách)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1956816"/>
            <a:ext cx="5394960" cy="438912"/>
          </a:xfrm>
          <a:prstGeom prst="roundRect">
            <a:avLst/>
          </a:prstGeom>
          <a:solidFill>
            <a:srgbClr val="1E1B4B"/>
          </a:solidFill>
          <a:ln w="1524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000" b="1">
                <a:solidFill>
                  <a:srgbClr val="F8FAFC"/>
                </a:solidFill>
                <a:latin typeface="Arial"/>
              </a:defRPr>
            </a:pPr>
            <a:r>
              <a:t>📦 1. User Code Server (Isolated Process)</a:t>
            </a:r>
          </a:p>
          <a:p>
            <a:pPr algn="ctr">
              <a:spcBef>
                <a:spcPts val="200"/>
              </a:spcBef>
              <a:defRPr sz="800">
                <a:solidFill>
                  <a:srgbClr val="94A3B8"/>
                </a:solidFill>
                <a:latin typeface="Arial"/>
              </a:defRPr>
            </a:pPr>
            <a:r>
              <a:t>assets.py với các hàm pure Python trong môi trường độc lập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414016"/>
            <a:ext cx="365760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1300" b="1">
                <a:solidFill>
                  <a:srgbClr val="C084FC"/>
                </a:solidFill>
                <a:latin typeface="Arial"/>
              </a:defRPr>
            </a:pPr>
            <a: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651760"/>
            <a:ext cx="5394960" cy="438912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000" b="1">
                <a:solidFill>
                  <a:srgbClr val="F8FAFC"/>
                </a:solidFill>
                <a:latin typeface="Arial"/>
              </a:defRPr>
            </a:pPr>
            <a:r>
              <a:t>🌐 2. gRPC Discovery (Zero Scheduler Load)</a:t>
            </a:r>
          </a:p>
          <a:p>
            <a:pPr algn="ctr">
              <a:spcBef>
                <a:spcPts val="200"/>
              </a:spcBef>
              <a:defRPr sz="800">
                <a:solidFill>
                  <a:srgbClr val="94A3B8"/>
                </a:solidFill>
                <a:latin typeface="Arial"/>
              </a:defRPr>
            </a:pPr>
            <a:r>
              <a:t>Gửi Asset Schema &amp; Lineage qua gRPC - Không bao giờ parse định kỳ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108960"/>
            <a:ext cx="365760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1300" b="1">
                <a:solidFill>
                  <a:srgbClr val="C084FC"/>
                </a:solidFill>
                <a:latin typeface="Arial"/>
              </a:defRPr>
            </a:pPr>
            <a: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3346704"/>
            <a:ext cx="5394960" cy="438912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000" b="1">
                <a:solidFill>
                  <a:srgbClr val="F8FAFC"/>
                </a:solidFill>
                <a:latin typeface="Arial"/>
              </a:defRPr>
            </a:pPr>
            <a:r>
              <a:t>⏱️ 3. Trigger &amp; Run Execution Plan</a:t>
            </a:r>
          </a:p>
          <a:p>
            <a:pPr algn="ctr">
              <a:spcBef>
                <a:spcPts val="200"/>
              </a:spcBef>
              <a:defRPr sz="800">
                <a:solidFill>
                  <a:srgbClr val="94A3B8"/>
                </a:solidFill>
                <a:latin typeface="Arial"/>
              </a:defRPr>
            </a:pPr>
            <a:r>
              <a:t>Sensor / Schedule / UI Materialize ➔ Bắn Event log vào 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803904"/>
            <a:ext cx="365760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1300" b="1">
                <a:solidFill>
                  <a:srgbClr val="C084FC"/>
                </a:solidFill>
                <a:latin typeface="Arial"/>
              </a:defRPr>
            </a:pPr>
            <a: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4041648"/>
            <a:ext cx="5394960" cy="438912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000" b="1">
                <a:solidFill>
                  <a:srgbClr val="F8FAFC"/>
                </a:solidFill>
                <a:latin typeface="Arial"/>
              </a:defRPr>
            </a:pPr>
            <a:r>
              <a:t>🚀 4. Launch Ephemeral Worker</a:t>
            </a:r>
          </a:p>
          <a:p>
            <a:pPr algn="ctr">
              <a:spcBef>
                <a:spcPts val="200"/>
              </a:spcBef>
              <a:defRPr sz="800">
                <a:solidFill>
                  <a:srgbClr val="94A3B8"/>
                </a:solidFill>
                <a:latin typeface="Arial"/>
              </a:defRPr>
            </a:pPr>
            <a:r>
              <a:t>Khởi động Pod/Container độc lập để thực thi tính toán Asset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498848"/>
            <a:ext cx="365760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1300" b="1">
                <a:solidFill>
                  <a:srgbClr val="C084FC"/>
                </a:solidFill>
                <a:latin typeface="Arial"/>
              </a:defRPr>
            </a:pPr>
            <a: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4736592"/>
            <a:ext cx="5394960" cy="438912"/>
          </a:xfrm>
          <a:prstGeom prst="roundRect">
            <a:avLst/>
          </a:prstGeom>
          <a:solidFill>
            <a:srgbClr val="064E3B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000" b="1">
                <a:solidFill>
                  <a:srgbClr val="F8FAFC"/>
                </a:solidFill>
                <a:latin typeface="Arial"/>
              </a:defRPr>
            </a:pPr>
            <a:r>
              <a:t>💾 5A. I/O Manager  &amp;  🛡️ 5B. Asset Checks</a:t>
            </a:r>
          </a:p>
          <a:p>
            <a:pPr algn="ctr">
              <a:spcBef>
                <a:spcPts val="200"/>
              </a:spcBef>
              <a:defRPr sz="800">
                <a:solidFill>
                  <a:srgbClr val="94A3B8"/>
                </a:solidFill>
                <a:latin typeface="Arial"/>
              </a:defRPr>
            </a:pPr>
            <a:r>
              <a:t>Payloads đẩy thẳng S3/MinIO  |  @asset_check(blocking=True) kiểm toán tại chỗ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5193792"/>
            <a:ext cx="365760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1300" b="1">
                <a:solidFill>
                  <a:srgbClr val="C084FC"/>
                </a:solidFill>
                <a:latin typeface="Arial"/>
              </a:defRPr>
            </a:pPr>
            <a: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5431536"/>
            <a:ext cx="5394960" cy="438912"/>
          </a:xfrm>
          <a:prstGeom prst="roundRect">
            <a:avLst/>
          </a:prstGeom>
          <a:solidFill>
            <a:srgbClr val="2E1065"/>
          </a:solidFill>
          <a:ln w="152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000" b="1">
                <a:solidFill>
                  <a:srgbClr val="F8FAFC"/>
                </a:solidFill>
                <a:latin typeface="Arial"/>
              </a:defRPr>
            </a:pPr>
            <a:r>
              <a:t>📊 6. Real-time Event Log &amp; UI Lineage</a:t>
            </a:r>
          </a:p>
          <a:p>
            <a:pPr algn="ctr">
              <a:spcBef>
                <a:spcPts val="200"/>
              </a:spcBef>
              <a:defRPr sz="800">
                <a:solidFill>
                  <a:srgbClr val="94A3B8"/>
                </a:solidFill>
                <a:latin typeface="Arial"/>
              </a:defRPr>
            </a:pPr>
            <a:r>
              <a:t>Hiện giá trị tiền, số lượng hóa đơn trực quan ngay trên Dashboard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1536192"/>
            <a:ext cx="4556455" cy="10972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91440"/>
          <a:lstStyle/>
          <a:p>
            <a:pPr algn="ctr">
              <a:defRPr sz="1100" b="1">
                <a:solidFill>
                  <a:srgbClr val="818CF8"/>
                </a:solidFill>
                <a:latin typeface="Arial"/>
              </a:defRPr>
            </a:pPr>
            <a:r>
              <a:t>🛡️ 1. Khám Phá Metadata Qua gRPC (Zero Load)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Code người dùng chạy trong tiến trình riêng. Nền tảng chỉ dùng gRPC để hỏi schema và lineage, hoàn toàn không nạp code Python của user vào Scheduler.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2779776"/>
            <a:ext cx="4556455" cy="10972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91440"/>
          <a:lstStyle/>
          <a:p>
            <a:pPr algn="ctr">
              <a:defRPr sz="1100" b="1">
                <a:solidFill>
                  <a:srgbClr val="C084FC"/>
                </a:solidFill>
                <a:latin typeface="Arial"/>
              </a:defRPr>
            </a:pPr>
            <a:r>
              <a:t>🚀 2. Chạy Trong Worker Độc Lập (Ephemeral)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Mỗi lần chạy bật một container/pod độc lập thực thi hàm Asset thuần khiết. Code có crash hay OOM thì Daemon và Webserver vẫn an toàn 100%.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3720" y="4023360"/>
            <a:ext cx="4556455" cy="10972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91440"/>
          <a:lstStyle/>
          <a:p>
            <a:pPr algn="ctr">
              <a:defRPr sz="1100" b="1">
                <a:solidFill>
                  <a:srgbClr val="22C55E"/>
                </a:solidFill>
                <a:latin typeface="Arial"/>
              </a:defRPr>
            </a:pPr>
            <a:r>
              <a:t>💾 3. I/O Manager Độc Lập &amp; Không Đụng DB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Dữ liệu trả về được I/O Manager tự động đẩy thẳng lên S3/MinIO hoặc Snowflake. Database hệ thống chỉ lưu nhật ký sự kiện, không lo phình bộ nhớ.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03720" y="5266944"/>
            <a:ext cx="4556455" cy="10972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91440"/>
          <a:lstStyle/>
          <a:p>
            <a:pPr algn="ctr">
              <a:defRPr sz="1100" b="1">
                <a:solidFill>
                  <a:srgbClr val="38BDF8"/>
                </a:solidFill>
                <a:latin typeface="Arial"/>
              </a:defRPr>
            </a:pPr>
            <a:r>
              <a:t>🛡️ 4. Asset Checks Đánh Chặn &amp; Báo Cáo Trên UI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Kiểm định chất lượng dữ liệu được gắn trực tiếp vào Asset. Nếu vi phạm trần 100M sẽ chặn downstream ngay và cảnh báo trên giao diện.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5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2523744" cy="292608"/>
          </a:xfrm>
          <a:prstGeom prst="roundRect">
            <a:avLst/>
          </a:prstGeom>
          <a:solidFill>
            <a:srgbClr val="120E20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>
              <a:defRPr sz="950" b="1">
                <a:solidFill>
                  <a:srgbClr val="C084FC"/>
                </a:solidFill>
                <a:latin typeface="Arial"/>
              </a:defRPr>
            </a:pPr>
            <a:r>
              <a:t>TRIỂN KHAI &amp; VẬN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Arial"/>
              </a:defRPr>
            </a:pPr>
            <a:r>
              <a:t>Hạ Tầng On-Premise &amp; Năng Lực Kiểm Thử CI/CD</a:t>
            </a:r>
          </a:p>
          <a:p>
            <a:pPr>
              <a:spcBef>
                <a:spcPts val="300"/>
              </a:spcBef>
              <a:defRPr sz="1150">
                <a:solidFill>
                  <a:srgbClr val="38BDF8"/>
                </a:solidFill>
                <a:latin typeface="Arial"/>
              </a:defRPr>
            </a:pPr>
            <a:r>
              <a:t>Kiến trúc cụm On-Prem (Kubernetes, MinIO, PostgreSQL) và Tốc độ kiểm thử tự động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36192"/>
            <a:ext cx="5166360" cy="4846320"/>
          </a:xfrm>
          <a:prstGeom prst="roundRect">
            <a:avLst/>
          </a:prstGeom>
          <a:solidFill>
            <a:srgbClr val="120E2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19456" bIns="182880"/>
          <a:lstStyle/>
          <a:p>
            <a:pPr algn="ctr">
              <a:defRPr sz="1650" b="1">
                <a:solidFill>
                  <a:srgbClr val="38BDF8"/>
                </a:solidFill>
                <a:latin typeface="Arial"/>
              </a:defRPr>
            </a:pPr>
            <a:r>
              <a:t>🏢 HẠ TẦNG ON-PREMISE (K8S &amp; STORAGE)</a:t>
            </a:r>
          </a:p>
          <a:p>
            <a:pPr>
              <a:spcBef>
                <a:spcPts val="1100"/>
              </a:spcBef>
              <a:defRPr b="1" sz="1200">
                <a:solidFill>
                  <a:srgbClr val="F8FAFC"/>
                </a:solidFill>
                <a:latin typeface="Arial"/>
              </a:defRPr>
            </a:pPr>
            <a:r>
              <a:t>• Kubernetes Cluster: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Triển khai điều phối bằng Helm Charts chính thức của Airflow / Dagster.</a:t>
            </a:r>
          </a:p>
          <a:p>
            <a:pPr>
              <a:spcBef>
                <a:spcPts val="1100"/>
              </a:spcBef>
              <a:defRPr b="1" sz="1200">
                <a:solidFill>
                  <a:srgbClr val="F8FAFC"/>
                </a:solidFill>
                <a:latin typeface="Arial"/>
              </a:defRPr>
            </a:pPr>
            <a:r>
              <a:t>• MinIO (Object Storage S3-Compatible):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Thay thế hoàn hảo AWS S3 để lưu trữ file PDF hóa đơn và artifacts.</a:t>
            </a:r>
          </a:p>
          <a:p>
            <a:pPr>
              <a:spcBef>
                <a:spcPts val="1100"/>
              </a:spcBef>
              <a:defRPr b="1" sz="1200">
                <a:solidFill>
                  <a:srgbClr val="F8FAFC"/>
                </a:solidFill>
                <a:latin typeface="Arial"/>
              </a:defRPr>
            </a:pPr>
            <a:r>
              <a:t>• PostgreSQL HA: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Lưu trữ metadata của hệ thống với cụm replica độ tin cậy cao.</a:t>
            </a:r>
          </a:p>
          <a:p>
            <a:pPr>
              <a:spcBef>
                <a:spcPts val="1100"/>
              </a:spcBef>
              <a:defRPr b="1" sz="1200">
                <a:solidFill>
                  <a:srgbClr val="F8FAFC"/>
                </a:solidFill>
                <a:latin typeface="Arial"/>
              </a:defRPr>
            </a:pPr>
            <a:r>
              <a:t>• Vault &amp; Keycloak: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Quản lý secret và xác thực bảo mật tập trung cho toàn bộ dịch vụ.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3815" y="1536192"/>
            <a:ext cx="5166360" cy="4846320"/>
          </a:xfrm>
          <a:prstGeom prst="roundRect">
            <a:avLst/>
          </a:prstGeom>
          <a:solidFill>
            <a:srgbClr val="120E20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19456" bIns="182880"/>
          <a:lstStyle/>
          <a:p>
            <a:pPr algn="ctr">
              <a:defRPr sz="1650" b="1">
                <a:solidFill>
                  <a:srgbClr val="22C55E"/>
                </a:solidFill>
                <a:latin typeface="Arial"/>
              </a:defRPr>
            </a:pPr>
            <a:r>
              <a:t>⚡ TỐC ĐỘ KIỂM THỬ CI/CD &amp; DEVELOPER UX</a:t>
            </a:r>
          </a:p>
          <a:p>
            <a:pPr>
              <a:spcBef>
                <a:spcPts val="1100"/>
              </a:spcBef>
              <a:defRPr b="1" sz="1200">
                <a:solidFill>
                  <a:srgbClr val="F8FAFC"/>
                </a:solidFill>
                <a:latin typeface="Arial"/>
              </a:defRPr>
            </a:pPr>
            <a:r>
              <a:t>• Airflow Unit Test (Phức tạp, 5-15 giây):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Cần khởi tạo SQLite database giả lập, mock context và task instance. Chạy chậm trong CI.</a:t>
            </a:r>
          </a:p>
          <a:p>
            <a:pPr>
              <a:spcBef>
                <a:spcPts val="1100"/>
              </a:spcBef>
              <a:defRPr b="1" sz="1200">
                <a:solidFill>
                  <a:srgbClr val="F8FAFC"/>
                </a:solidFill>
                <a:latin typeface="Arial"/>
              </a:defRPr>
            </a:pPr>
            <a:r>
              <a:t>• Dagster In-Memory Test (Cực nhanh, ~0.12 giây):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Hỗ trợ materialize([asset_name]) trực tiếp trong RAM, không cần database hay server. Tích hợp trơn tru vào Pytest.</a:t>
            </a:r>
          </a:p>
          <a:p>
            <a:pPr>
              <a:spcBef>
                <a:spcPts val="1100"/>
              </a:spcBef>
              <a:defRPr b="1" sz="1200">
                <a:solidFill>
                  <a:srgbClr val="F8FAFC"/>
                </a:solidFill>
                <a:latin typeface="Arial"/>
              </a:defRPr>
            </a:pPr>
            <a:r>
              <a:t>• Tự tin Refactor: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Kỹ sư tự do thay đổi logic xử lý hóa đơn và kiểm tra ngay lập tức tại máy cá nhân.</a:t>
            </a:r>
          </a:p>
          <a:p>
            <a:pPr>
              <a:spcBef>
                <a:spcPts val="1100"/>
              </a:spcBef>
              <a:defRPr b="1" sz="1200">
                <a:solidFill>
                  <a:srgbClr val="F8FAFC"/>
                </a:solidFill>
                <a:latin typeface="Arial"/>
              </a:defRPr>
            </a:pPr>
            <a:r>
              <a:t>• Tối ưu chu kỳ phản hồi: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Rút ngắn thời gian phát hiện lỗi từ hàng phút xuống chỉ vài trăm mili-giây.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5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2221992" cy="292608"/>
          </a:xfrm>
          <a:prstGeom prst="roundRect">
            <a:avLst/>
          </a:prstGeom>
          <a:solidFill>
            <a:srgbClr val="120E20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>
              <a:defRPr sz="950" b="1">
                <a:solidFill>
                  <a:srgbClr val="C084FC"/>
                </a:solidFill>
                <a:latin typeface="Arial"/>
              </a:defRPr>
            </a:pPr>
            <a:r>
              <a:t>BẢNG ĐIỂM KỸ THUẬT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Arial"/>
              </a:defRPr>
            </a:pPr>
            <a:r>
              <a:t>Ma Trận So Sánh Kỹ Thuật Tổng Hợp</a:t>
            </a:r>
          </a:p>
          <a:p>
            <a:pPr>
              <a:spcBef>
                <a:spcPts val="300"/>
              </a:spcBef>
              <a:defRPr sz="1150">
                <a:solidFill>
                  <a:srgbClr val="38BDF8"/>
                </a:solidFill>
                <a:latin typeface="Arial"/>
              </a:defRPr>
            </a:pPr>
            <a:r>
              <a:t>Đánh giá 7 tiêu chí so sánh toàn diện giữa Apache Airflow và Dagster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72768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886200"/>
                <a:gridCol w="3886200"/>
                <a:gridCol w="853135"/>
              </a:tblGrid>
              <a:tr h="594360">
                <a:tc>
                  <a:txBody>
                    <a:bodyPr/>
                    <a:lstStyle/>
                    <a:p>
                      <a:pPr algn="l">
                        <a:defRPr b="1" sz="1200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Tiêu Chí</a:t>
                      </a:r>
                    </a:p>
                  </a:txBody>
                  <a:tcPr anchor="ctr" marL="109728" marR="109728" marT="54864" marB="54864">
                    <a:solidFill>
                      <a:srgbClr val="120E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200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Apache Airflow</a:t>
                      </a:r>
                    </a:p>
                  </a:txBody>
                  <a:tcPr anchor="ctr" marL="109728" marR="109728" marT="54864" marB="54864">
                    <a:solidFill>
                      <a:srgbClr val="120E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200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Dagster</a:t>
                      </a:r>
                    </a:p>
                  </a:txBody>
                  <a:tcPr anchor="ctr" marL="109728" marR="109728" marT="54864" marB="54864">
                    <a:solidFill>
                      <a:srgbClr val="120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59E0B"/>
                          </a:solidFill>
                          <a:latin typeface="Arial"/>
                        </a:defRPr>
                      </a:pPr>
                      <a:r>
                        <a:t>Thắng</a:t>
                      </a:r>
                    </a:p>
                  </a:txBody>
                  <a:tcPr anchor="ctr" marL="109728" marR="109728" marT="54864" marB="54864">
                    <a:solidFill>
                      <a:srgbClr val="120E2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8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Mô hình cốt lõi</a:t>
                      </a:r>
                    </a:p>
                  </a:txBody>
                  <a:tcPr anchor="ctr" marL="109728" marR="109728" marT="45720" marB="45720">
                    <a:solidFill>
                      <a:srgbClr val="120E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Task-Centric (Workflow as Code)</a:t>
                      </a:r>
                    </a:p>
                  </a:txBody>
                  <a:tcPr anchor="ctr" marL="109728" marR="109728" marT="45720" marB="45720">
                    <a:solidFill>
                      <a:srgbClr val="120E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Asset-Centric (Data as Code)</a:t>
                      </a:r>
                    </a:p>
                  </a:txBody>
                  <a:tcPr anchor="ctr" marL="109728" marR="109728" marT="45720" marB="45720">
                    <a:solidFill>
                      <a:srgbClr val="120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C084FC"/>
                          </a:solidFill>
                          <a:latin typeface="Arial"/>
                        </a:defRPr>
                      </a:pPr>
                      <a:r>
                        <a:t>Dagster</a:t>
                      </a:r>
                    </a:p>
                  </a:txBody>
                  <a:tcPr anchor="ctr" marL="109728" marR="109728" marT="45720" marB="45720">
                    <a:solidFill>
                      <a:srgbClr val="120E2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8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Quản lý Dữ liệu</a:t>
                      </a:r>
                    </a:p>
                  </a:txBody>
                  <a:tcPr anchor="ctr" marL="109728" marR="109728" marT="45720" marB="45720">
                    <a:solidFill>
                      <a:srgbClr val="0E0B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XCom qua Database (Dễ nghẽn)</a:t>
                      </a:r>
                    </a:p>
                  </a:txBody>
                  <a:tcPr anchor="ctr" marL="109728" marR="109728" marT="45720" marB="45720">
                    <a:solidFill>
                      <a:srgbClr val="0E0B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I/O Manager tự động (S3/MinIO)</a:t>
                      </a:r>
                    </a:p>
                  </a:txBody>
                  <a:tcPr anchor="ctr" marL="109728" marR="109728" marT="45720" marB="45720">
                    <a:solidFill>
                      <a:srgbClr val="0E0B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C084FC"/>
                          </a:solidFill>
                          <a:latin typeface="Arial"/>
                        </a:defRPr>
                      </a:pPr>
                      <a:r>
                        <a:t>Dagster</a:t>
                      </a:r>
                    </a:p>
                  </a:txBody>
                  <a:tcPr anchor="ctr" marL="109728" marR="109728" marT="45720" marB="45720">
                    <a:solidFill>
                      <a:srgbClr val="0E0B1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8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Kiểm định Dữ liệu</a:t>
                      </a:r>
                    </a:p>
                  </a:txBody>
                  <a:tcPr anchor="ctr" marL="109728" marR="109728" marT="45720" marB="45720">
                    <a:solidFill>
                      <a:srgbClr val="120E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Tự viết Task/Sensor kiểm tra</a:t>
                      </a:r>
                    </a:p>
                  </a:txBody>
                  <a:tcPr anchor="ctr" marL="109728" marR="109728" marT="45720" marB="45720">
                    <a:solidFill>
                      <a:srgbClr val="120E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Asset Checks 1st-class tích hợp</a:t>
                      </a:r>
                    </a:p>
                  </a:txBody>
                  <a:tcPr anchor="ctr" marL="109728" marR="109728" marT="45720" marB="45720">
                    <a:solidFill>
                      <a:srgbClr val="120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C084FC"/>
                          </a:solidFill>
                          <a:latin typeface="Arial"/>
                        </a:defRPr>
                      </a:pPr>
                      <a:r>
                        <a:t>Dagster</a:t>
                      </a:r>
                    </a:p>
                  </a:txBody>
                  <a:tcPr anchor="ctr" marL="109728" marR="109728" marT="45720" marB="45720">
                    <a:solidFill>
                      <a:srgbClr val="120E2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8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Kiểm thử Local &amp; CI</a:t>
                      </a:r>
                    </a:p>
                  </a:txBody>
                  <a:tcPr anchor="ctr" marL="109728" marR="109728" marT="45720" marB="45720">
                    <a:solidFill>
                      <a:srgbClr val="0E0B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Mock phức tạp, khởi tạo DB chậm</a:t>
                      </a:r>
                    </a:p>
                  </a:txBody>
                  <a:tcPr anchor="ctr" marL="109728" marR="109728" marT="45720" marB="45720">
                    <a:solidFill>
                      <a:srgbClr val="0E0B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In-Memory Test cực nhanh (0.12s)</a:t>
                      </a:r>
                    </a:p>
                  </a:txBody>
                  <a:tcPr anchor="ctr" marL="109728" marR="109728" marT="45720" marB="45720">
                    <a:solidFill>
                      <a:srgbClr val="0E0B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C084FC"/>
                          </a:solidFill>
                          <a:latin typeface="Arial"/>
                        </a:defRPr>
                      </a:pPr>
                      <a:r>
                        <a:t>Dagster</a:t>
                      </a:r>
                    </a:p>
                  </a:txBody>
                  <a:tcPr anchor="ctr" marL="109728" marR="109728" marT="45720" marB="45720">
                    <a:solidFill>
                      <a:srgbClr val="0E0B1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8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Độ chín &amp; Cộng đồng</a:t>
                      </a:r>
                    </a:p>
                  </a:txBody>
                  <a:tcPr anchor="ctr" marL="109728" marR="109728" marT="45720" marB="45720">
                    <a:solidFill>
                      <a:srgbClr val="120E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10+ năm, tài liệu &amp; provider khổng lồ</a:t>
                      </a:r>
                    </a:p>
                  </a:txBody>
                  <a:tcPr anchor="ctr" marL="109728" marR="109728" marT="45720" marB="45720">
                    <a:solidFill>
                      <a:srgbClr val="120E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Mới hơn, cộng đồng đang tăng trưởng</a:t>
                      </a:r>
                    </a:p>
                  </a:txBody>
                  <a:tcPr anchor="ctr" marL="109728" marR="109728" marT="45720" marB="45720">
                    <a:solidFill>
                      <a:srgbClr val="120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Airflow</a:t>
                      </a:r>
                    </a:p>
                  </a:txBody>
                  <a:tcPr anchor="ctr" marL="109728" marR="109728" marT="45720" marB="45720">
                    <a:solidFill>
                      <a:srgbClr val="120E2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8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Bảo mật &amp; Phân quyền</a:t>
                      </a:r>
                    </a:p>
                  </a:txBody>
                  <a:tcPr anchor="ctr" marL="109728" marR="109728" marT="45720" marB="45720">
                    <a:solidFill>
                      <a:srgbClr val="0E0B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RBAC hoàn thiện, hỗ trợ LDAP/OAuth</a:t>
                      </a:r>
                    </a:p>
                  </a:txBody>
                  <a:tcPr anchor="ctr" marL="109728" marR="109728" marT="45720" marB="45720">
                    <a:solidFill>
                      <a:srgbClr val="0E0B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RBAC chủ yếu trên Dagster Cloud</a:t>
                      </a:r>
                    </a:p>
                  </a:txBody>
                  <a:tcPr anchor="ctr" marL="109728" marR="109728" marT="45720" marB="45720">
                    <a:solidFill>
                      <a:srgbClr val="0E0B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Airflow</a:t>
                      </a:r>
                    </a:p>
                  </a:txBody>
                  <a:tcPr anchor="ctr" marL="109728" marR="109728" marT="45720" marB="45720">
                    <a:solidFill>
                      <a:srgbClr val="0E0B1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8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Điều phối Đa nhiệm</a:t>
                      </a:r>
                    </a:p>
                  </a:txBody>
                  <a:tcPr anchor="ctr" marL="109728" marR="109728" marT="45720" marB="45720">
                    <a:solidFill>
                      <a:srgbClr val="120E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Mạnh về Job hạ tầng / DevOps / Spark</a:t>
                      </a:r>
                    </a:p>
                  </a:txBody>
                  <a:tcPr anchor="ctr" marL="109728" marR="109728" marT="45720" marB="45720">
                    <a:solidFill>
                      <a:srgbClr val="120E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Mạnh về Modern Data Platform &amp; AI/ML</a:t>
                      </a:r>
                    </a:p>
                  </a:txBody>
                  <a:tcPr anchor="ctr" marL="109728" marR="109728" marT="45720" marB="45720">
                    <a:solidFill>
                      <a:srgbClr val="120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59E0B"/>
                          </a:solidFill>
                          <a:latin typeface="Arial"/>
                        </a:defRPr>
                      </a:pPr>
                      <a:r>
                        <a:t>Hòa</a:t>
                      </a:r>
                    </a:p>
                  </a:txBody>
                  <a:tcPr anchor="ctr" marL="109728" marR="109728" marT="45720" marB="45720">
                    <a:solidFill>
                      <a:srgbClr val="120E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5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2121408" cy="292608"/>
          </a:xfrm>
          <a:prstGeom prst="roundRect">
            <a:avLst/>
          </a:prstGeom>
          <a:solidFill>
            <a:srgbClr val="120E20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>
              <a:defRPr sz="950" b="1">
                <a:solidFill>
                  <a:srgbClr val="C084FC"/>
                </a:solidFill>
                <a:latin typeface="Arial"/>
              </a:defRPr>
            </a:pPr>
            <a:r>
              <a:t>ĐỊNH VỊ GIẢI PHÁP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Arial"/>
              </a:defRPr>
            </a:pPr>
            <a:r>
              <a:t>Định Vị Giải Pháp: Tiêu Chí Lựa Chọn Airflow vs Dagster</a:t>
            </a:r>
          </a:p>
          <a:p>
            <a:pPr>
              <a:spcBef>
                <a:spcPts val="300"/>
              </a:spcBef>
              <a:defRPr sz="1150">
                <a:solidFill>
                  <a:srgbClr val="38BDF8"/>
                </a:solidFill>
                <a:latin typeface="Arial"/>
              </a:defRPr>
            </a:pPr>
            <a:r>
              <a:t>Căn cứ lựa chọn công nghệ phù hợp với đặc thù dự án và bài toán của doanh nghiệp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36192"/>
            <a:ext cx="5166360" cy="4846320"/>
          </a:xfrm>
          <a:prstGeom prst="roundRect">
            <a:avLst/>
          </a:prstGeom>
          <a:solidFill>
            <a:srgbClr val="120E2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19456" bIns="182880"/>
          <a:lstStyle/>
          <a:p>
            <a:pPr algn="ctr">
              <a:defRPr sz="1650" b="1">
                <a:solidFill>
                  <a:srgbClr val="38BDF8"/>
                </a:solidFill>
                <a:latin typeface="Arial"/>
              </a:defRPr>
            </a:pPr>
            <a:r>
              <a:t>🎯 NÊN CHỌN AIRFLOW KHI:</a:t>
            </a:r>
          </a:p>
          <a:p>
            <a:pPr>
              <a:spcBef>
                <a:spcPts val="800"/>
              </a:spcBef>
              <a:defRPr b="1" sz="1100">
                <a:solidFill>
                  <a:srgbClr val="F8FAFC"/>
                </a:solidFill>
                <a:latin typeface="Arial"/>
              </a:defRPr>
            </a:pPr>
            <a:r>
              <a:t>• Team đã có kinh nghiệm Airflow dày dặn:</a:t>
            </a:r>
          </a:p>
          <a:p>
            <a:pPr>
              <a:spcBef>
                <a:spcPts val="200"/>
              </a:spcBef>
              <a:defRPr sz="980">
                <a:solidFill>
                  <a:srgbClr val="94A3B8"/>
                </a:solidFill>
                <a:latin typeface="Arial"/>
              </a:defRPr>
            </a:pPr>
            <a:r>
              <a:t>Tận dụng hạ tầng, kỹ năng và quy trình DevOps sẵn có.</a:t>
            </a:r>
          </a:p>
          <a:p>
            <a:pPr>
              <a:spcBef>
                <a:spcPts val="800"/>
              </a:spcBef>
              <a:defRPr b="1" sz="1100">
                <a:solidFill>
                  <a:srgbClr val="F8FAFC"/>
                </a:solidFill>
                <a:latin typeface="Arial"/>
              </a:defRPr>
            </a:pPr>
            <a:r>
              <a:t>• Bài toán điều phối hạ tầng (Orchestration):</a:t>
            </a:r>
          </a:p>
          <a:p>
            <a:pPr>
              <a:spcBef>
                <a:spcPts val="200"/>
              </a:spcBef>
              <a:defRPr sz="980">
                <a:solidFill>
                  <a:srgbClr val="94A3B8"/>
                </a:solidFill>
                <a:latin typeface="Arial"/>
              </a:defRPr>
            </a:pPr>
            <a:r>
              <a:t>Kích hoạt định kỳ các tác vụ dbt, EMR, Kubernetes Job, backup DB.</a:t>
            </a:r>
          </a:p>
          <a:p>
            <a:pPr>
              <a:spcBef>
                <a:spcPts val="800"/>
              </a:spcBef>
              <a:defRPr b="1" sz="1100">
                <a:solidFill>
                  <a:srgbClr val="F8FAFC"/>
                </a:solidFill>
                <a:latin typeface="Arial"/>
              </a:defRPr>
            </a:pPr>
            <a:r>
              <a:t>• Hệ thống yêu cầu RBAC khắt khe On-Premise:</a:t>
            </a:r>
          </a:p>
          <a:p>
            <a:pPr>
              <a:spcBef>
                <a:spcPts val="200"/>
              </a:spcBef>
              <a:defRPr sz="980">
                <a:solidFill>
                  <a:srgbClr val="94A3B8"/>
                </a:solidFill>
                <a:latin typeface="Arial"/>
              </a:defRPr>
            </a:pPr>
            <a:r>
              <a:t>Cần phân quyền truy cập DAG chi tiết cho từng người dùng/nhóm.</a:t>
            </a:r>
          </a:p>
          <a:p>
            <a:pPr>
              <a:spcBef>
                <a:spcPts val="800"/>
              </a:spcBef>
              <a:defRPr b="1" sz="1100">
                <a:solidFill>
                  <a:srgbClr val="F8FAFC"/>
                </a:solidFill>
                <a:latin typeface="Arial"/>
              </a:defRPr>
            </a:pPr>
            <a:r>
              <a:t>• Ít quan tâm đến Data Lineage &amp; Asset Quality:</a:t>
            </a:r>
          </a:p>
          <a:p>
            <a:pPr>
              <a:spcBef>
                <a:spcPts val="200"/>
              </a:spcBef>
              <a:defRPr sz="980">
                <a:solidFill>
                  <a:srgbClr val="94A3B8"/>
                </a:solidFill>
                <a:latin typeface="Arial"/>
              </a:defRPr>
            </a:pPr>
            <a:r>
              <a:t>Quy trình ETL đơn giản, chuyển dữ liệu từ A sang B định kỳ.</a:t>
            </a:r>
          </a:p>
          <a:p>
            <a:pPr>
              <a:spcBef>
                <a:spcPts val="800"/>
              </a:spcBef>
              <a:defRPr b="1" sz="1100">
                <a:solidFill>
                  <a:srgbClr val="F8FAFC"/>
                </a:solidFill>
                <a:latin typeface="Arial"/>
              </a:defRPr>
            </a:pPr>
            <a:r>
              <a:t>• Cần sự ổn định lâu dài:</a:t>
            </a:r>
          </a:p>
          <a:p>
            <a:pPr>
              <a:spcBef>
                <a:spcPts val="200"/>
              </a:spcBef>
              <a:defRPr sz="980">
                <a:solidFill>
                  <a:srgbClr val="94A3B8"/>
                </a:solidFill>
                <a:latin typeface="Arial"/>
              </a:defRPr>
            </a:pPr>
            <a:r>
              <a:t>Thư viện plugin phong phú hỗ trợ gần như mọi dịch vụ công nghệ trên thị trường.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3815" y="1536192"/>
            <a:ext cx="5166360" cy="4846320"/>
          </a:xfrm>
          <a:prstGeom prst="roundRect">
            <a:avLst/>
          </a:prstGeom>
          <a:solidFill>
            <a:srgbClr val="120E20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19456" bIns="182880"/>
          <a:lstStyle/>
          <a:p>
            <a:pPr algn="ctr">
              <a:defRPr sz="1650" b="1">
                <a:solidFill>
                  <a:srgbClr val="C084FC"/>
                </a:solidFill>
                <a:latin typeface="Arial"/>
              </a:defRPr>
            </a:pPr>
            <a:r>
              <a:t>🎯 NÊN CHỌN DAGSTER KHI:</a:t>
            </a:r>
          </a:p>
          <a:p>
            <a:pPr>
              <a:spcBef>
                <a:spcPts val="800"/>
              </a:spcBef>
              <a:defRPr b="1" sz="1100">
                <a:solidFill>
                  <a:srgbClr val="F8FAFC"/>
                </a:solidFill>
                <a:latin typeface="Arial"/>
              </a:defRPr>
            </a:pPr>
            <a:r>
              <a:t>• Xây dựng Modern Data Platform / Data Mesh:</a:t>
            </a:r>
          </a:p>
          <a:p>
            <a:pPr>
              <a:spcBef>
                <a:spcPts val="200"/>
              </a:spcBef>
              <a:defRPr sz="980">
                <a:solidFill>
                  <a:srgbClr val="94A3B8"/>
                </a:solidFill>
                <a:latin typeface="Arial"/>
              </a:defRPr>
            </a:pPr>
            <a:r>
              <a:t>Nơi tài sản dữ liệu, chất lượng dữ liệu và Data Catalog là ưu tiên hàng đầu.</a:t>
            </a:r>
          </a:p>
          <a:p>
            <a:pPr>
              <a:spcBef>
                <a:spcPts val="800"/>
              </a:spcBef>
              <a:defRPr b="1" sz="1100">
                <a:solidFill>
                  <a:srgbClr val="F8FAFC"/>
                </a:solidFill>
                <a:latin typeface="Arial"/>
              </a:defRPr>
            </a:pPr>
            <a:r>
              <a:t>• Tập trung vào Tự động hóa Kiểm thử (Testing):</a:t>
            </a:r>
          </a:p>
          <a:p>
            <a:pPr>
              <a:spcBef>
                <a:spcPts val="200"/>
              </a:spcBef>
              <a:defRPr sz="980">
                <a:solidFill>
                  <a:srgbClr val="94A3B8"/>
                </a:solidFill>
                <a:latin typeface="Arial"/>
              </a:defRPr>
            </a:pPr>
            <a:r>
              <a:t>Muốn kiểm thử toàn bộ pipeline trong CI/CD trước khi đưa lên production.</a:t>
            </a:r>
          </a:p>
          <a:p>
            <a:pPr>
              <a:spcBef>
                <a:spcPts val="800"/>
              </a:spcBef>
              <a:defRPr b="1" sz="1100">
                <a:solidFill>
                  <a:srgbClr val="F8FAFC"/>
                </a:solidFill>
                <a:latin typeface="Arial"/>
              </a:defRPr>
            </a:pPr>
            <a:r>
              <a:t>• Pipeline xử lý dữ liệu phức tạp &amp; AI/ML:</a:t>
            </a:r>
          </a:p>
          <a:p>
            <a:pPr>
              <a:spcBef>
                <a:spcPts val="200"/>
              </a:spcBef>
              <a:defRPr sz="980">
                <a:solidFill>
                  <a:srgbClr val="94A3B8"/>
                </a:solidFill>
                <a:latin typeface="Arial"/>
              </a:defRPr>
            </a:pPr>
            <a:r>
              <a:t>Cần theo dõi Data Lineage, phân nhánh theo chất lượng dữ liệu như bài toán hóa đơn.</a:t>
            </a:r>
          </a:p>
          <a:p>
            <a:pPr>
              <a:spcBef>
                <a:spcPts val="800"/>
              </a:spcBef>
              <a:defRPr b="1" sz="1100">
                <a:solidFill>
                  <a:srgbClr val="F8FAFC"/>
                </a:solidFill>
                <a:latin typeface="Arial"/>
              </a:defRPr>
            </a:pPr>
            <a:r>
              <a:t>• Môi trường phát triển đa đội ngũ:</a:t>
            </a:r>
          </a:p>
          <a:p>
            <a:pPr>
              <a:spcBef>
                <a:spcPts val="200"/>
              </a:spcBef>
              <a:defRPr sz="980">
                <a:solidFill>
                  <a:srgbClr val="94A3B8"/>
                </a:solidFill>
                <a:latin typeface="Arial"/>
              </a:defRPr>
            </a:pPr>
            <a:r>
              <a:t>Nhiều team cùng phát triển trên các Code Server cô lập, không ảnh hưởng lẫn nhau.</a:t>
            </a:r>
          </a:p>
          <a:p>
            <a:pPr>
              <a:spcBef>
                <a:spcPts val="800"/>
              </a:spcBef>
              <a:defRPr b="1" sz="1100">
                <a:solidFill>
                  <a:srgbClr val="F8FAFC"/>
                </a:solidFill>
                <a:latin typeface="Arial"/>
              </a:defRPr>
            </a:pPr>
            <a:r>
              <a:t>• Muốn trải nghiệm phát triển (DevX) vượt trội:</a:t>
            </a:r>
          </a:p>
          <a:p>
            <a:pPr>
              <a:spcBef>
                <a:spcPts val="200"/>
              </a:spcBef>
              <a:defRPr sz="980">
                <a:solidFill>
                  <a:srgbClr val="94A3B8"/>
                </a:solidFill>
                <a:latin typeface="Arial"/>
              </a:defRPr>
            </a:pPr>
            <a:r>
              <a:t>Giao diện hiện đại, trực quan, hỗ trợ reload code chỉ với một cú click.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5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2221992" cy="292608"/>
          </a:xfrm>
          <a:prstGeom prst="roundRect">
            <a:avLst/>
          </a:prstGeom>
          <a:solidFill>
            <a:srgbClr val="120E20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>
              <a:defRPr sz="950" b="1">
                <a:solidFill>
                  <a:srgbClr val="C084FC"/>
                </a:solidFill>
                <a:latin typeface="Arial"/>
              </a:defRPr>
            </a:pPr>
            <a:r>
              <a:t>KẾ HOẠCH HÀNH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Arial"/>
              </a:defRPr>
            </a:pPr>
            <a:r>
              <a:t>Lộ Trình Triển Khai Chuyển Đổi 3 Giai Đoạn</a:t>
            </a:r>
          </a:p>
          <a:p>
            <a:pPr>
              <a:spcBef>
                <a:spcPts val="300"/>
              </a:spcBef>
              <a:defRPr sz="1150">
                <a:solidFill>
                  <a:srgbClr val="38BDF8"/>
                </a:solidFill>
                <a:latin typeface="Arial"/>
              </a:defRPr>
            </a:pPr>
            <a:r>
              <a:t>Chiến lược chuyển đổi khả thi giúp giảm thiểu rủi ro gián đoạn hệ thống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36192"/>
            <a:ext cx="3332073" cy="4846320"/>
          </a:xfrm>
          <a:prstGeom prst="roundRect">
            <a:avLst/>
          </a:prstGeom>
          <a:solidFill>
            <a:srgbClr val="120E2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219456" bIns="182880"/>
          <a:lstStyle/>
          <a:p>
            <a:pPr algn="ctr">
              <a:defRPr sz="1300" b="1">
                <a:solidFill>
                  <a:srgbClr val="38BDF8"/>
                </a:solidFill>
                <a:latin typeface="Arial"/>
              </a:defRPr>
            </a:pPr>
            <a:r>
              <a:t>GIAI ĐOẠN 1 (Tháng 1-2)</a:t>
            </a: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THỬ NGHIỆM (POC)</a:t>
            </a:r>
          </a:p>
          <a:p>
            <a:pPr>
              <a:spcBef>
                <a:spcPts val="1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• Triển khai cụm thử nghiệm (Local / Dev K8s).</a:t>
            </a:r>
          </a:p>
          <a:p>
            <a:pPr>
              <a:spcBef>
                <a:spcPts val="1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• Chạy song song kịch bản xử lý Invoice PDF trên cả 2 công cụ.</a:t>
            </a:r>
          </a:p>
          <a:p>
            <a:pPr>
              <a:spcBef>
                <a:spcPts val="1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• Đo lường thời gian test CI/CD và độ ổn định khi tải tăng.</a:t>
            </a:r>
          </a:p>
          <a:p>
            <a:pPr>
              <a:spcBef>
                <a:spcPts val="1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• Thu thập đánh giá trải nghiệm thực tế từ các kỹ sư dữ liệu.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9353" y="1536192"/>
            <a:ext cx="3332073" cy="4846320"/>
          </a:xfrm>
          <a:prstGeom prst="roundRect">
            <a:avLst/>
          </a:prstGeom>
          <a:solidFill>
            <a:srgbClr val="120E2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219456" bIns="182880"/>
          <a:lstStyle/>
          <a:p>
            <a:pPr algn="ctr">
              <a:defRPr sz="1300" b="1">
                <a:solidFill>
                  <a:srgbClr val="F59E0B"/>
                </a:solidFill>
                <a:latin typeface="Arial"/>
              </a:defRPr>
            </a:pPr>
            <a:r>
              <a:t>GIAI ĐOẠN 2 (Tháng 3-4)</a:t>
            </a: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HYBRID CO-EXISTENCE</a:t>
            </a:r>
          </a:p>
          <a:p>
            <a:pPr>
              <a:spcBef>
                <a:spcPts val="1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• Tận dụng Airflow điều phối các tác vụ hạ tầng và hệ thống cũ.</a:t>
            </a:r>
          </a:p>
          <a:p>
            <a:pPr>
              <a:spcBef>
                <a:spcPts val="1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• Sử dụng Dagster cho các pipeline bóc tách dữ liệu mới và AI/ML.</a:t>
            </a:r>
          </a:p>
          <a:p>
            <a:pPr>
              <a:spcBef>
                <a:spcPts val="1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• Đồng bộ hóa lưu trữ artifacts qua MinIO On-Premise chung.</a:t>
            </a:r>
          </a:p>
          <a:p>
            <a:pPr>
              <a:spcBef>
                <a:spcPts val="1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• Xây dựng bộ quy chuẩn CI/CD và tiêu chuẩn viết Asset Checks.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27186" y="1536192"/>
            <a:ext cx="3332073" cy="4846320"/>
          </a:xfrm>
          <a:prstGeom prst="roundRect">
            <a:avLst/>
          </a:prstGeom>
          <a:solidFill>
            <a:srgbClr val="120E20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219456" bIns="182880"/>
          <a:lstStyle/>
          <a:p>
            <a:pPr algn="ctr">
              <a:defRPr sz="1300" b="1">
                <a:solidFill>
                  <a:srgbClr val="22C55E"/>
                </a:solidFill>
                <a:latin typeface="Arial"/>
              </a:defRPr>
            </a:pPr>
            <a:r>
              <a:t>GIAI ĐOẠN 3 (Tháng 5+)</a:t>
            </a: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CHUYỂN DỊCH HOÀN TOÀN</a:t>
            </a:r>
          </a:p>
          <a:p>
            <a:pPr>
              <a:spcBef>
                <a:spcPts val="1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• Di chuyển toàn bộ pipeline nghiệp vụ quan trọng sang nền tảng chuẩn hóa.</a:t>
            </a:r>
          </a:p>
          <a:p>
            <a:pPr>
              <a:spcBef>
                <a:spcPts val="1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• Hoàn thiện hệ thống giám sát cảnh báo (Prometheus, Grafana).</a:t>
            </a:r>
          </a:p>
          <a:p>
            <a:pPr>
              <a:spcBef>
                <a:spcPts val="1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• Đóng gói tài liệu bàn giao, đào tạo nội bộ và tối ưu hóa chi phí On-Prem.</a:t>
            </a:r>
          </a:p>
          <a:p>
            <a:pPr>
              <a:spcBef>
                <a:spcPts val="1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• Tự tin mở rộng quy mô xử lý hàng triệu hóa đơn/tháng.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5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2423160" cy="292608"/>
          </a:xfrm>
          <a:prstGeom prst="roundRect">
            <a:avLst/>
          </a:prstGeom>
          <a:solidFill>
            <a:srgbClr val="120E20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>
              <a:defRPr sz="950" b="1">
                <a:solidFill>
                  <a:srgbClr val="C084FC"/>
                </a:solidFill>
                <a:latin typeface="Arial"/>
              </a:defRPr>
            </a:pPr>
            <a:r>
              <a:t>KẾT LUẬN &amp; THẢO LUẬN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Arial"/>
              </a:defRPr>
            </a:pPr>
            <a:r>
              <a:t>Tổng Kết &amp; Thảo Luận (Q&amp;A)</a:t>
            </a:r>
          </a:p>
          <a:p>
            <a:pPr>
              <a:spcBef>
                <a:spcPts val="300"/>
              </a:spcBef>
              <a:defRPr sz="1150">
                <a:solidFill>
                  <a:srgbClr val="38BDF8"/>
                </a:solidFill>
                <a:latin typeface="Arial"/>
              </a:defRPr>
            </a:pPr>
            <a:r>
              <a:t>Thông điệp cốt lõi và sẵn sàng giải đáp thắc mắc chuyên sâu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36192"/>
            <a:ext cx="10728655" cy="987552"/>
          </a:xfrm>
          <a:prstGeom prst="roundRect">
            <a:avLst/>
          </a:prstGeom>
          <a:solidFill>
            <a:srgbClr val="120E20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09728" bIns="91440"/>
          <a:lstStyle/>
          <a:p>
            <a:pPr algn="ctr">
              <a:defRPr sz="1200" b="1">
                <a:solidFill>
                  <a:srgbClr val="38BDF8"/>
                </a:solidFill>
                <a:latin typeface="Arial"/>
              </a:defRPr>
            </a:pPr>
            <a:r>
              <a:t>1. Không có công cụ 'hoàn hảo nhất', chỉ có công cụ 'phù hợp nhất':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Airflow vững chãi cho điều phối hạ tầng truyền thống; Dagster vượt trội cho kỹ thuật dữ liệu hiện đại và kiểm soát chất lượng.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33472"/>
            <a:ext cx="10728655" cy="987552"/>
          </a:xfrm>
          <a:prstGeom prst="roundRect">
            <a:avLst/>
          </a:prstGeom>
          <a:solidFill>
            <a:srgbClr val="120E20"/>
          </a:solidFill>
          <a:ln w="152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09728" bIns="91440"/>
          <a:lstStyle/>
          <a:p>
            <a:pPr algn="ctr">
              <a:defRPr sz="1200" b="1">
                <a:solidFill>
                  <a:srgbClr val="C084FC"/>
                </a:solidFill>
                <a:latin typeface="Arial"/>
              </a:defRPr>
            </a:pPr>
            <a:r>
              <a:t>2. Asset-Centric là tương lai của Quản trị Dữ liệu: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Tư duy lấy dữ liệu làm trung tâm giúp doanh nghiệp kiểm soát tính toàn vẹn, data lineage và sẵn sàng cho các bài toán AI/LLM.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30752"/>
            <a:ext cx="10728655" cy="987552"/>
          </a:xfrm>
          <a:prstGeom prst="roundRect">
            <a:avLst/>
          </a:prstGeom>
          <a:solidFill>
            <a:srgbClr val="120E20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09728" bIns="91440"/>
          <a:lstStyle/>
          <a:p>
            <a:pPr algn="ctr">
              <a:defRPr sz="1200" b="1">
                <a:solidFill>
                  <a:srgbClr val="22C55E"/>
                </a:solidFill>
                <a:latin typeface="Arial"/>
              </a:defRPr>
            </a:pPr>
            <a:r>
              <a:t>3. Tự chủ On-Premise tối ưu chi phí và bảo mật: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Kết hợp Kubernetes và MinIO giúp doanh nghiệp kiểm soát 100% dữ liệu nhạy cảm mà không bị phụ thuộc vào hóa đơn điện toán đám mây.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919472"/>
            <a:ext cx="10728655" cy="1444752"/>
          </a:xfrm>
          <a:prstGeom prst="roundRect">
            <a:avLst/>
          </a:prstGeom>
          <a:solidFill>
            <a:srgbClr val="120E2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100" b="1">
                <a:solidFill>
                  <a:srgbClr val="22C55E"/>
                </a:solidFill>
                <a:latin typeface="Arial"/>
              </a:defRPr>
            </a:pPr>
            <a:r>
              <a:t>💬 SẴN SÀNG TRẢ LỜI CÂU HỎI (Q&amp;A)</a:t>
            </a:r>
          </a:p>
          <a:p>
            <a:pPr algn="ctr">
              <a:spcBef>
                <a:spcPts val="6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Xin chân thành cảm ơn quý anh chị đã lắng nghe!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